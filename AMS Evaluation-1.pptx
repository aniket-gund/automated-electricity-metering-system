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2">
  <p:sldMasterIdLst>
    <p:sldMasterId id="2147483659" r:id="rId1"/>
  </p:sldMasterIdLst>
  <p:notesMasterIdLst>
    <p:notesMasterId r:id="rId16"/>
  </p:notesMasterIdLst>
  <p:sldIdLst>
    <p:sldId id="256" r:id="rId2"/>
    <p:sldId id="269" r:id="rId3"/>
    <p:sldId id="264" r:id="rId4"/>
    <p:sldId id="257" r:id="rId5"/>
    <p:sldId id="263" r:id="rId6"/>
    <p:sldId id="259" r:id="rId7"/>
    <p:sldId id="260" r:id="rId8"/>
    <p:sldId id="281" r:id="rId9"/>
    <p:sldId id="282" r:id="rId10"/>
    <p:sldId id="266" r:id="rId11"/>
    <p:sldId id="278" r:id="rId12"/>
    <p:sldId id="261" r:id="rId13"/>
    <p:sldId id="279" r:id="rId14"/>
    <p:sldId id="280" r:id="rId15"/>
  </p:sldIdLst>
  <p:sldSz cx="9144000" cy="6858000" type="screen4x3"/>
  <p:notesSz cx="6858000" cy="9144000"/>
  <p:embeddedFontLst>
    <p:embeddedFont>
      <p:font typeface="Calibri" panose="020F0502020204030204" pitchFamily="34" charset="0"/>
      <p:regular r:id="rId17"/>
      <p:bold r:id="rId18"/>
      <p:italic r:id="rId19"/>
      <p:boldItalic r:id="rId20"/>
    </p:embeddedFont>
    <p:embeddedFont>
      <p:font typeface="Libre Baskerville" panose="020B0604020202020204" charset="0"/>
      <p:regular r:id="rId21"/>
      <p:bold r:id="rId22"/>
      <p:italic r:id="rId23"/>
    </p:embeddedFont>
    <p:embeddedFont>
      <p:font typeface="Roboto" panose="020000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8C056A-42DE-4C38-9A3D-CAF4E02FDA2F}">
  <a:tblStyle styleId="{FA8C056A-42DE-4C38-9A3D-CAF4E02FDA2F}" styleName="Table_0">
    <a:wholeTbl>
      <a:tcTxStyle b="off" i="off">
        <a:font>
          <a:latin typeface="Arial"/>
          <a:ea typeface="Arial"/>
          <a:cs typeface="Arial"/>
        </a:font>
        <a:schemeClr val="dk1"/>
      </a:tcTxStyle>
      <a:tcStyle>
        <a:tcBdr>
          <a:left>
            <a:ln w="12700" cap="flat" cmpd="sng">
              <a:solidFill>
                <a:schemeClr val="accent2"/>
              </a:solidFill>
              <a:prstDash val="solid"/>
              <a:round/>
              <a:headEnd type="none" w="sm" len="sm"/>
              <a:tailEnd type="none" w="sm" len="sm"/>
            </a:ln>
          </a:left>
          <a:right>
            <a:ln w="12700" cap="flat" cmpd="sng">
              <a:solidFill>
                <a:schemeClr val="accent2"/>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12700" cap="flat" cmpd="sng">
              <a:solidFill>
                <a:schemeClr val="accent2"/>
              </a:solidFill>
              <a:prstDash val="solid"/>
              <a:round/>
              <a:headEnd type="none" w="sm" len="sm"/>
              <a:tailEnd type="none" w="sm" len="sm"/>
            </a:ln>
          </a:insideH>
          <a:insideV>
            <a:ln w="12700" cap="flat" cmpd="sng">
              <a:solidFill>
                <a:schemeClr val="accent2"/>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20000"/>
            </a:schemeClr>
          </a:solidFill>
        </a:fill>
      </a:tcStyle>
    </a:band1H>
    <a:band2H>
      <a:tcTxStyle/>
      <a:tcStyle>
        <a:tcBdr/>
      </a:tcStyle>
    </a:band2H>
    <a:band1V>
      <a:tcTxStyle/>
      <a:tcStyle>
        <a:tcBdr/>
        <a:fill>
          <a:solidFill>
            <a:schemeClr val="accent2">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2"/>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845"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3622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7645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2550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5"/>
          <p:cNvSpPr>
            <a:spLocks noGrp="1"/>
          </p:cNvSpPr>
          <p:nvPr>
            <p:ph type="pic" idx="2"/>
          </p:nvPr>
        </p:nvSpPr>
        <p:spPr>
          <a:xfrm>
            <a:off x="1792288" y="612775"/>
            <a:ext cx="5486400" cy="4114800"/>
          </a:xfrm>
          <a:prstGeom prst="rect">
            <a:avLst/>
          </a:prstGeom>
          <a:noFill/>
          <a:ln>
            <a:noFill/>
          </a:ln>
        </p:spPr>
      </p:sp>
      <p:sp>
        <p:nvSpPr>
          <p:cNvPr id="32" name="Google Shape;32;p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3" name="Google Shape;3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39" name="Google Shape;39;p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40" name="Google Shape;40;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3"/>
        <p:cNvGrpSpPr/>
        <p:nvPr/>
      </p:nvGrpSpPr>
      <p:grpSpPr>
        <a:xfrm>
          <a:off x="0" y="0"/>
          <a:ext cx="0" cy="0"/>
          <a:chOff x="0" y="0"/>
          <a:chExt cx="0" cy="0"/>
        </a:xfrm>
      </p:grpSpPr>
      <p:sp>
        <p:nvSpPr>
          <p:cNvPr id="44" name="Google Shape;44;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9" name="Google Shape;49;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5" name="Google Shape;55;p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6" name="Google Shape;56;p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7" name="Google Shape;57;p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 name="Google Shape;63;p1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64" name="Google Shape;64;p1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rajivelectronics.com/product/zmpt101b-ac-single-phase-voltage-sensor-module/" TargetMode="External"/><Relationship Id="rId13" Type="http://schemas.openxmlformats.org/officeDocument/2006/relationships/hyperlink" Target="https://rajivelectronics.com/product/hlk-20m05-hi-link-5v-20w-ac-to-dc-power-supply-module/" TargetMode="External"/><Relationship Id="rId3" Type="http://schemas.openxmlformats.org/officeDocument/2006/relationships/hyperlink" Target="https://rajivelectronics.com/product/esp-32-development-board-with-wifi-and-bluetooth-30-pin/" TargetMode="External"/><Relationship Id="rId7" Type="http://schemas.openxmlformats.org/officeDocument/2006/relationships/hyperlink" Target="https://rajivelectronics.com/product/sim800l-gprs-gsm-module-micro-sim-card-core-board-quad-band-ttl-serial-port/" TargetMode="External"/><Relationship Id="rId12" Type="http://schemas.openxmlformats.org/officeDocument/2006/relationships/hyperlink" Target="https://rajivelectronics.com/product/sk90-s-dc5v-1c-5v-t-type-30a-5vdc-black-relay/" TargetMode="External"/><Relationship Id="rId2" Type="http://schemas.openxmlformats.org/officeDocument/2006/relationships/hyperlink" Target="https://rajivelectronics.com/product/pzem-004t-ac-80260v-100a-mini-multifuncion-power-energy-amp-volt-monitor-meter-module-with-ct-coil/" TargetMode="External"/><Relationship Id="rId1" Type="http://schemas.openxmlformats.org/officeDocument/2006/relationships/slideLayout" Target="../slideLayouts/slideLayout2.xml"/><Relationship Id="rId6" Type="http://schemas.openxmlformats.org/officeDocument/2006/relationships/hyperlink" Target="https://rajivelectronics.com/product/jhd629-204a-20x4-lcd-y-yg-background/" TargetMode="External"/><Relationship Id="rId11" Type="http://schemas.openxmlformats.org/officeDocument/2006/relationships/hyperlink" Target="https://rajivelectronics.com/product/6-x-6-x-5-mm-black-color-tactile-momentary-push-button-switch/" TargetMode="External"/><Relationship Id="rId5" Type="http://schemas.openxmlformats.org/officeDocument/2006/relationships/hyperlink" Target="https://rajivelectronics.com/product/at24c256-i2c-serial-interface-port-eeprom-memory-module/" TargetMode="External"/><Relationship Id="rId10" Type="http://schemas.openxmlformats.org/officeDocument/2006/relationships/hyperlink" Target="https://rajivelectronics.com/product/tca9548a-1-to-8-i2c-8-channel-iic-multiplexer-multi-channel-expansion-development-board-for-aduinotca9548a-1-to-8-i2c-8-way-multi-channel-expansion-board-iic-module/" TargetMode="External"/><Relationship Id="rId4" Type="http://schemas.openxmlformats.org/officeDocument/2006/relationships/hyperlink" Target="https://rajivelectronics.com/product/ds3231-rtc-module-precise-real-time-clock-i2c-at24c32/" TargetMode="External"/><Relationship Id="rId9" Type="http://schemas.openxmlformats.org/officeDocument/2006/relationships/hyperlink" Target="https://in.element14.com/allegro-microsystems/a1220eua-t/ic-hall-effect-latch-sip-3/dp/1698206?pf_custSiteRedirect=true"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381000" y="281354"/>
            <a:ext cx="8229600" cy="1420837"/>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0000"/>
              </a:buClr>
              <a:buSzPct val="111111"/>
              <a:buFont typeface="Libre Baskerville"/>
              <a:buNone/>
            </a:pPr>
            <a:r>
              <a:rPr lang="en-US" sz="1800" b="0" i="0" u="none" dirty="0">
                <a:solidFill>
                  <a:srgbClr val="000000"/>
                </a:solidFill>
                <a:latin typeface="Libre Baskerville"/>
                <a:ea typeface="Libre Baskerville"/>
                <a:cs typeface="Libre Baskerville"/>
                <a:sym typeface="Libre Baskerville"/>
              </a:rPr>
              <a:t>Pune Vidyarthi </a:t>
            </a:r>
            <a:r>
              <a:rPr lang="en-US" sz="1800" b="0" i="0" u="none" dirty="0" err="1">
                <a:solidFill>
                  <a:srgbClr val="000000"/>
                </a:solidFill>
                <a:latin typeface="Libre Baskerville"/>
                <a:ea typeface="Libre Baskerville"/>
                <a:cs typeface="Libre Baskerville"/>
                <a:sym typeface="Libre Baskerville"/>
              </a:rPr>
              <a:t>Griha’s</a:t>
            </a:r>
            <a:r>
              <a:rPr lang="en-US" sz="1800" b="0" i="0" u="none" dirty="0">
                <a:solidFill>
                  <a:srgbClr val="000000"/>
                </a:solidFill>
                <a:latin typeface="Libre Baskerville"/>
                <a:ea typeface="Libre Baskerville"/>
                <a:cs typeface="Libre Baskerville"/>
                <a:sym typeface="Libre Baskerville"/>
              </a:rPr>
              <a:t> College of Engineering &amp; Technology &amp;G. K. Pate (Wani) Institute of Management, Pune</a:t>
            </a:r>
            <a:br>
              <a:rPr lang="en-US" sz="1800" b="0" i="0" u="none" dirty="0">
                <a:solidFill>
                  <a:srgbClr val="000000"/>
                </a:solidFill>
                <a:latin typeface="Libre Baskerville"/>
                <a:ea typeface="Libre Baskerville"/>
                <a:cs typeface="Libre Baskerville"/>
                <a:sym typeface="Libre Baskerville"/>
              </a:rPr>
            </a:br>
            <a:r>
              <a:rPr lang="en-US" sz="1800" b="0" i="0" u="none" dirty="0">
                <a:solidFill>
                  <a:srgbClr val="000000"/>
                </a:solidFill>
                <a:latin typeface="Libre Baskerville"/>
                <a:ea typeface="Libre Baskerville"/>
                <a:cs typeface="Libre Baskerville"/>
                <a:sym typeface="Libre Baskerville"/>
              </a:rPr>
              <a:t>                   DEPARTMENT OF ELECTRONICS AND TELECOMMUNICATION ENGINEERING</a:t>
            </a:r>
            <a:br>
              <a:rPr lang="en-US" sz="1800" b="0" i="0" u="none" dirty="0">
                <a:solidFill>
                  <a:srgbClr val="000000"/>
                </a:solidFill>
                <a:latin typeface="Libre Baskerville"/>
                <a:ea typeface="Libre Baskerville"/>
                <a:cs typeface="Libre Baskerville"/>
                <a:sym typeface="Libre Baskerville"/>
              </a:rPr>
            </a:br>
            <a:r>
              <a:rPr lang="en-US" sz="1800" b="0" i="0" u="none" dirty="0">
                <a:solidFill>
                  <a:srgbClr val="000000"/>
                </a:solidFill>
                <a:latin typeface="Libre Baskerville"/>
                <a:ea typeface="Libre Baskerville"/>
                <a:cs typeface="Libre Baskerville"/>
                <a:sym typeface="Libre Baskerville"/>
              </a:rPr>
              <a:t>Academic Year: 2024-2025</a:t>
            </a:r>
            <a:br>
              <a:rPr lang="en-US" sz="1800" b="0" i="0" u="none" dirty="0">
                <a:solidFill>
                  <a:schemeClr val="dk1"/>
                </a:solidFill>
                <a:latin typeface="Calibri"/>
                <a:ea typeface="Calibri"/>
                <a:cs typeface="Calibri"/>
                <a:sym typeface="Calibri"/>
              </a:rPr>
            </a:br>
            <a:br>
              <a:rPr lang="en-US" sz="1800" b="0" i="0" u="none" dirty="0">
                <a:solidFill>
                  <a:schemeClr val="dk1"/>
                </a:solidFill>
                <a:latin typeface="Calibri"/>
                <a:ea typeface="Calibri"/>
                <a:cs typeface="Calibri"/>
                <a:sym typeface="Calibri"/>
              </a:rPr>
            </a:br>
            <a:endParaRPr sz="1800" dirty="0"/>
          </a:p>
        </p:txBody>
      </p:sp>
      <p:sp>
        <p:nvSpPr>
          <p:cNvPr id="85" name="Google Shape;85;p13"/>
          <p:cNvSpPr txBox="1">
            <a:spLocks noGrp="1"/>
          </p:cNvSpPr>
          <p:nvPr>
            <p:ph type="body" idx="1"/>
          </p:nvPr>
        </p:nvSpPr>
        <p:spPr>
          <a:xfrm>
            <a:off x="200025" y="1451317"/>
            <a:ext cx="8229600" cy="5254282"/>
          </a:xfrm>
          <a:prstGeom prst="rect">
            <a:avLst/>
          </a:prstGeom>
          <a:noFill/>
          <a:ln>
            <a:noFill/>
          </a:ln>
        </p:spPr>
        <p:txBody>
          <a:bodyPr spcFirstLastPara="1" wrap="square" lIns="91425" tIns="45700" rIns="91425" bIns="45700" anchor="t" anchorCtr="0">
            <a:normAutofit/>
          </a:bodyPr>
          <a:lstStyle/>
          <a:p>
            <a:pPr marL="342900" marR="0" lvl="0" indent="-342900" algn="ctr" rtl="0">
              <a:lnSpc>
                <a:spcPct val="90000"/>
              </a:lnSpc>
              <a:spcBef>
                <a:spcPts val="0"/>
              </a:spcBef>
              <a:spcAft>
                <a:spcPts val="0"/>
              </a:spcAft>
              <a:buClr>
                <a:schemeClr val="dk1"/>
              </a:buClr>
              <a:buSzPts val="3000"/>
              <a:buFont typeface="Arial"/>
              <a:buNone/>
            </a:pPr>
            <a:r>
              <a:rPr lang="en-US" sz="3000" b="0" i="0" u="none" strike="noStrike" cap="none" dirty="0">
                <a:solidFill>
                  <a:schemeClr val="dk1"/>
                </a:solidFill>
                <a:latin typeface="Times New Roman"/>
                <a:ea typeface="Times New Roman"/>
                <a:cs typeface="Times New Roman"/>
                <a:sym typeface="Times New Roman"/>
              </a:rPr>
              <a:t>Proposed Project Title: </a:t>
            </a:r>
            <a:r>
              <a:rPr lang="en-US" sz="3000" b="0" i="0" u="none" strike="noStrike" cap="none">
                <a:solidFill>
                  <a:schemeClr val="dk1"/>
                </a:solidFill>
                <a:latin typeface="Times New Roman"/>
                <a:ea typeface="Times New Roman"/>
                <a:cs typeface="Times New Roman"/>
                <a:sym typeface="Times New Roman"/>
              </a:rPr>
              <a:t>Automated Electricity Metering </a:t>
            </a:r>
            <a:r>
              <a:rPr lang="en-US" sz="3000" b="0" i="0" u="none" strike="noStrike" cap="none" dirty="0">
                <a:solidFill>
                  <a:schemeClr val="dk1"/>
                </a:solidFill>
                <a:latin typeface="Times New Roman"/>
                <a:ea typeface="Times New Roman"/>
                <a:cs typeface="Times New Roman"/>
                <a:sym typeface="Times New Roman"/>
              </a:rPr>
              <a:t>System</a:t>
            </a:r>
          </a:p>
          <a:p>
            <a:pPr marL="342900" marR="0" lvl="0" indent="-342900" algn="ctr" rtl="0">
              <a:lnSpc>
                <a:spcPct val="90000"/>
              </a:lnSpc>
              <a:spcBef>
                <a:spcPts val="0"/>
              </a:spcBef>
              <a:spcAft>
                <a:spcPts val="0"/>
              </a:spcAft>
              <a:buClr>
                <a:schemeClr val="dk1"/>
              </a:buClr>
              <a:buSzPts val="3000"/>
              <a:buFont typeface="Arial"/>
              <a:buNone/>
            </a:pPr>
            <a:endParaRPr dirty="0"/>
          </a:p>
          <a:p>
            <a:pPr marL="342900" marR="0" lvl="0" indent="-342900" algn="l" rtl="0">
              <a:lnSpc>
                <a:spcPct val="90000"/>
              </a:lnSpc>
              <a:spcBef>
                <a:spcPts val="600"/>
              </a:spcBef>
              <a:spcAft>
                <a:spcPts val="0"/>
              </a:spcAft>
              <a:buClr>
                <a:schemeClr val="dk1"/>
              </a:buClr>
              <a:buSzPts val="3000"/>
              <a:buFont typeface="Arial"/>
              <a:buNone/>
            </a:pPr>
            <a:r>
              <a:rPr lang="en-US" sz="2500" b="0" i="0" u="none" strike="noStrike" cap="none" dirty="0">
                <a:solidFill>
                  <a:schemeClr val="dk1"/>
                </a:solidFill>
                <a:latin typeface="Times New Roman"/>
                <a:ea typeface="Times New Roman"/>
                <a:cs typeface="Times New Roman"/>
                <a:sym typeface="Times New Roman"/>
              </a:rPr>
              <a:t>Name of Project Group members</a:t>
            </a:r>
            <a:endParaRPr sz="2500" dirty="0"/>
          </a:p>
          <a:p>
            <a:pPr marL="342900" marR="0" lvl="0" indent="-342900" algn="l" rtl="0">
              <a:lnSpc>
                <a:spcPct val="90000"/>
              </a:lnSpc>
              <a:spcBef>
                <a:spcPts val="600"/>
              </a:spcBef>
              <a:spcAft>
                <a:spcPts val="0"/>
              </a:spcAft>
              <a:buClr>
                <a:schemeClr val="dk1"/>
              </a:buClr>
              <a:buSzPts val="3000"/>
              <a:buFont typeface="Arial"/>
              <a:buNone/>
            </a:pPr>
            <a:r>
              <a:rPr lang="en-US" sz="2500" b="0" i="0" u="none" strike="noStrike" cap="none" dirty="0">
                <a:solidFill>
                  <a:schemeClr val="dk1"/>
                </a:solidFill>
                <a:latin typeface="Times New Roman"/>
                <a:ea typeface="Times New Roman"/>
                <a:cs typeface="Times New Roman"/>
                <a:sym typeface="Times New Roman"/>
              </a:rPr>
              <a:t>1.Aniket Gund</a:t>
            </a:r>
            <a:endParaRPr sz="2500" dirty="0"/>
          </a:p>
          <a:p>
            <a:pPr marL="342900" marR="0" lvl="0" indent="-342900" algn="l" rtl="0">
              <a:lnSpc>
                <a:spcPct val="90000"/>
              </a:lnSpc>
              <a:spcBef>
                <a:spcPts val="600"/>
              </a:spcBef>
              <a:spcAft>
                <a:spcPts val="0"/>
              </a:spcAft>
              <a:buClr>
                <a:schemeClr val="dk1"/>
              </a:buClr>
              <a:buSzPts val="3000"/>
              <a:buFont typeface="Arial"/>
              <a:buNone/>
            </a:pPr>
            <a:r>
              <a:rPr lang="en-US" sz="2500" b="0" i="0" u="none" strike="noStrike" cap="none" dirty="0">
                <a:solidFill>
                  <a:schemeClr val="dk1"/>
                </a:solidFill>
                <a:latin typeface="Times New Roman"/>
                <a:ea typeface="Times New Roman"/>
                <a:cs typeface="Times New Roman"/>
                <a:sym typeface="Times New Roman"/>
              </a:rPr>
              <a:t>2.Bhushan Ranade</a:t>
            </a:r>
            <a:endParaRPr sz="2500" dirty="0"/>
          </a:p>
          <a:p>
            <a:pPr marL="342900" marR="0" lvl="0" indent="-342900" algn="l" rtl="0">
              <a:lnSpc>
                <a:spcPct val="90000"/>
              </a:lnSpc>
              <a:spcBef>
                <a:spcPts val="600"/>
              </a:spcBef>
              <a:spcAft>
                <a:spcPts val="0"/>
              </a:spcAft>
              <a:buClr>
                <a:schemeClr val="dk1"/>
              </a:buClr>
              <a:buSzPts val="3000"/>
              <a:buFont typeface="Arial"/>
              <a:buNone/>
            </a:pPr>
            <a:r>
              <a:rPr lang="en-US" sz="2500" b="0" i="0" u="none" strike="noStrike" cap="none" dirty="0">
                <a:solidFill>
                  <a:schemeClr val="dk1"/>
                </a:solidFill>
                <a:latin typeface="Times New Roman"/>
                <a:ea typeface="Times New Roman"/>
                <a:cs typeface="Times New Roman"/>
                <a:sym typeface="Times New Roman"/>
              </a:rPr>
              <a:t>3.Vaishnavi </a:t>
            </a:r>
            <a:r>
              <a:rPr lang="en-US" sz="2500" b="0" i="0" u="none" strike="noStrike" cap="none" dirty="0" err="1">
                <a:solidFill>
                  <a:schemeClr val="dk1"/>
                </a:solidFill>
                <a:latin typeface="Times New Roman"/>
                <a:ea typeface="Times New Roman"/>
                <a:cs typeface="Times New Roman"/>
                <a:sym typeface="Times New Roman"/>
              </a:rPr>
              <a:t>Borude</a:t>
            </a:r>
            <a:endParaRPr sz="2500" dirty="0"/>
          </a:p>
          <a:p>
            <a:pPr marL="342900" marR="0" lvl="0" indent="-342900" algn="l" rtl="0">
              <a:lnSpc>
                <a:spcPct val="90000"/>
              </a:lnSpc>
              <a:spcBef>
                <a:spcPts val="600"/>
              </a:spcBef>
              <a:spcAft>
                <a:spcPts val="0"/>
              </a:spcAft>
              <a:buClr>
                <a:schemeClr val="dk1"/>
              </a:buClr>
              <a:buSzPts val="3000"/>
              <a:buFont typeface="Arial"/>
              <a:buNone/>
            </a:pPr>
            <a:r>
              <a:rPr lang="en-US" sz="2500" b="0" i="0" u="none" strike="noStrike" cap="none" dirty="0">
                <a:solidFill>
                  <a:schemeClr val="dk1"/>
                </a:solidFill>
                <a:latin typeface="Times New Roman"/>
                <a:ea typeface="Times New Roman"/>
                <a:cs typeface="Times New Roman"/>
                <a:sym typeface="Times New Roman"/>
              </a:rPr>
              <a:t>4.Rohan </a:t>
            </a:r>
            <a:r>
              <a:rPr lang="en-US" sz="2500" b="0" i="0" u="none" strike="noStrike" cap="none" dirty="0" err="1">
                <a:solidFill>
                  <a:schemeClr val="dk1"/>
                </a:solidFill>
                <a:latin typeface="Times New Roman"/>
                <a:ea typeface="Times New Roman"/>
                <a:cs typeface="Times New Roman"/>
                <a:sym typeface="Times New Roman"/>
              </a:rPr>
              <a:t>Khilari</a:t>
            </a:r>
            <a:r>
              <a:rPr lang="en-US" sz="2500" b="0" i="0" u="none" strike="noStrike" cap="none" dirty="0">
                <a:solidFill>
                  <a:schemeClr val="dk1"/>
                </a:solidFill>
                <a:latin typeface="Times New Roman"/>
                <a:ea typeface="Times New Roman"/>
                <a:cs typeface="Times New Roman"/>
                <a:sym typeface="Times New Roman"/>
              </a:rPr>
              <a:t> </a:t>
            </a:r>
            <a:endParaRPr sz="2500" dirty="0"/>
          </a:p>
          <a:p>
            <a:pPr marL="342900" marR="0" lvl="0" indent="-342900" algn="l" rtl="0">
              <a:lnSpc>
                <a:spcPct val="90000"/>
              </a:lnSpc>
              <a:spcBef>
                <a:spcPts val="600"/>
              </a:spcBef>
              <a:spcAft>
                <a:spcPts val="0"/>
              </a:spcAft>
              <a:buClr>
                <a:schemeClr val="dk1"/>
              </a:buClr>
              <a:buSzPts val="3000"/>
              <a:buFont typeface="Arial"/>
              <a:buNone/>
            </a:pPr>
            <a:br>
              <a:rPr lang="en-US" sz="2500" b="0" i="0" u="none" strike="noStrike" cap="none" dirty="0">
                <a:solidFill>
                  <a:schemeClr val="dk1"/>
                </a:solidFill>
                <a:latin typeface="Calibri"/>
                <a:ea typeface="Calibri"/>
                <a:cs typeface="Calibri"/>
                <a:sym typeface="Calibri"/>
              </a:rPr>
            </a:br>
            <a:r>
              <a:rPr lang="en-US" sz="2500" b="0" i="0" u="none" strike="noStrike" cap="none" dirty="0">
                <a:solidFill>
                  <a:schemeClr val="dk1"/>
                </a:solidFill>
                <a:latin typeface="Times New Roman"/>
                <a:ea typeface="Times New Roman"/>
                <a:cs typeface="Times New Roman"/>
                <a:sym typeface="Times New Roman"/>
              </a:rPr>
              <a:t>Name of Guide: Dr. Y.B. </a:t>
            </a:r>
            <a:r>
              <a:rPr lang="en-US" sz="2500" b="0" i="0" u="none" strike="noStrike" cap="none" dirty="0" err="1">
                <a:solidFill>
                  <a:schemeClr val="dk1"/>
                </a:solidFill>
                <a:latin typeface="Times New Roman"/>
                <a:ea typeface="Times New Roman"/>
                <a:cs typeface="Times New Roman"/>
                <a:sym typeface="Times New Roman"/>
              </a:rPr>
              <a:t>Thakare</a:t>
            </a:r>
            <a:endParaRPr lang="en-US" sz="2500" b="0" i="0" u="none" strike="noStrike" cap="none" dirty="0">
              <a:solidFill>
                <a:schemeClr val="dk1"/>
              </a:solidFill>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chemeClr val="dk1"/>
              </a:buClr>
              <a:buSzPts val="3000"/>
              <a:buFont typeface="Arial"/>
              <a:buNone/>
            </a:pPr>
            <a:r>
              <a:rPr lang="en-US" sz="2500" dirty="0">
                <a:latin typeface="Times New Roman"/>
                <a:cs typeface="Times New Roman"/>
                <a:sym typeface="Times New Roman"/>
              </a:rPr>
              <a:t>    Company Assigned Guide: Mr. Kunal </a:t>
            </a:r>
            <a:r>
              <a:rPr lang="en-US" sz="2500" dirty="0" err="1">
                <a:latin typeface="Times New Roman"/>
                <a:cs typeface="Times New Roman"/>
                <a:sym typeface="Times New Roman"/>
              </a:rPr>
              <a:t>Pamu</a:t>
            </a:r>
            <a:endParaRPr sz="2500" dirty="0"/>
          </a:p>
          <a:p>
            <a:pPr marL="342900" marR="0" lvl="0" indent="-342900" algn="l" rtl="0">
              <a:lnSpc>
                <a:spcPct val="90000"/>
              </a:lnSpc>
              <a:spcBef>
                <a:spcPts val="600"/>
              </a:spcBef>
              <a:spcAft>
                <a:spcPts val="0"/>
              </a:spcAft>
              <a:buClr>
                <a:schemeClr val="dk1"/>
              </a:buClr>
              <a:buSzPts val="3000"/>
              <a:buFont typeface="Arial"/>
              <a:buNone/>
            </a:pPr>
            <a:r>
              <a:rPr lang="en-US" sz="2500" dirty="0">
                <a:latin typeface="Times New Roman"/>
                <a:ea typeface="Times New Roman"/>
                <a:cs typeface="Times New Roman"/>
                <a:sym typeface="Times New Roman"/>
              </a:rPr>
              <a:t>    Name of sponsored company: ABCD Analytics</a:t>
            </a:r>
            <a:endParaRPr sz="2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548319-EE0B-4E65-ABFD-798637BDE859}"/>
              </a:ext>
            </a:extLst>
          </p:cNvPr>
          <p:cNvSpPr txBox="1"/>
          <p:nvPr/>
        </p:nvSpPr>
        <p:spPr>
          <a:xfrm>
            <a:off x="581025" y="666751"/>
            <a:ext cx="7639050" cy="3385542"/>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Introduction:</a:t>
            </a:r>
          </a:p>
          <a:p>
            <a:endParaRPr lang="en-US"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Currently, MSEB employees manually visit each consumer's home to capture meter readings, but unclear images often lead to billing errors and unexpected billing charges. This manual process also results in power disconnections when bills are unpaid, which is challenging. Additionally, the existing postpaid billing system does not provide real-time data, leading to inefficiencies and </a:t>
            </a:r>
            <a:r>
              <a:rPr lang="en-IN" sz="2200" dirty="0">
                <a:latin typeface="Times New Roman" panose="02020603050405020304" pitchFamily="18" charset="0"/>
                <a:cs typeface="Times New Roman" panose="02020603050405020304" pitchFamily="18" charset="0"/>
              </a:rPr>
              <a:t>customer dissatisfaction.</a:t>
            </a:r>
            <a:endParaRPr lang="en-US"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12174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body" idx="1"/>
          </p:nvPr>
        </p:nvSpPr>
        <p:spPr>
          <a:xfrm>
            <a:off x="514350" y="809625"/>
            <a:ext cx="8515349" cy="6115050"/>
          </a:xfrm>
          <a:prstGeom prst="rect">
            <a:avLst/>
          </a:prstGeom>
          <a:noFill/>
          <a:ln>
            <a:noFill/>
          </a:ln>
        </p:spPr>
        <p:txBody>
          <a:bodyPr spcFirstLastPara="1" wrap="square" lIns="91425" tIns="45700" rIns="91425" bIns="45700" anchor="t" anchorCtr="0">
            <a:noAutofit/>
          </a:bodyPr>
          <a:lstStyle/>
          <a:p>
            <a:pPr marL="342900">
              <a:spcBef>
                <a:spcPts val="0"/>
              </a:spcBef>
              <a:buClr>
                <a:srgbClr val="000000"/>
              </a:buClr>
              <a:buSzPts val="3200"/>
              <a:buNone/>
            </a:pPr>
            <a:r>
              <a:rPr lang="en-US" sz="30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Aim: </a:t>
            </a:r>
            <a:r>
              <a:rPr lang="en-US" sz="2200" dirty="0">
                <a:solidFill>
                  <a:schemeClr val="tx1"/>
                </a:solidFill>
                <a:latin typeface="Times New Roman" panose="02020603050405020304" pitchFamily="18" charset="0"/>
                <a:ea typeface="Roboto" pitchFamily="34" charset="-122"/>
                <a:cs typeface="Times New Roman" panose="02020603050405020304" pitchFamily="18" charset="0"/>
              </a:rPr>
              <a:t>To design and develop a Automated metering system with prepaid billing and remote control.</a:t>
            </a:r>
            <a:r>
              <a:rPr lang="en-US" sz="3200" dirty="0">
                <a:solidFill>
                  <a:srgbClr val="D6E5EF"/>
                </a:solidFill>
                <a:latin typeface="Roboto" pitchFamily="34" charset="0"/>
                <a:ea typeface="Roboto" pitchFamily="34" charset="-122"/>
                <a:cs typeface="Roboto" pitchFamily="34" charset="-120"/>
              </a:rPr>
              <a:t>
</a:t>
            </a:r>
            <a:endPar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342900" marR="0" lvl="0" indent="-342900" algn="l" rtl="0">
              <a:lnSpc>
                <a:spcPct val="100000"/>
              </a:lnSpc>
              <a:spcBef>
                <a:spcPts val="0"/>
              </a:spcBef>
              <a:spcAft>
                <a:spcPts val="0"/>
              </a:spcAft>
              <a:buClr>
                <a:srgbClr val="000000"/>
              </a:buClr>
              <a:buSzPts val="3200"/>
              <a:buFont typeface="Arial"/>
              <a:buNone/>
            </a:pPr>
            <a:r>
              <a:rPr lang="en-US" sz="30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Objectives of the project:</a:t>
            </a:r>
            <a:endParaRPr lang="en-IN" sz="1800" b="0" i="0" u="none" strike="noStrike" baseline="0" dirty="0">
              <a:solidFill>
                <a:srgbClr val="000000"/>
              </a:solidFill>
              <a:latin typeface="Times New Roman" panose="02020603050405020304" pitchFamily="18" charset="0"/>
            </a:endParaRPr>
          </a:p>
          <a:p>
            <a:pPr algn="just"/>
            <a:r>
              <a:rPr lang="en-US" sz="1900" b="1" i="0" u="none" strike="noStrike" baseline="0" dirty="0">
                <a:solidFill>
                  <a:srgbClr val="000000"/>
                </a:solidFill>
                <a:latin typeface="Times New Roman" panose="02020603050405020304" pitchFamily="18" charset="0"/>
              </a:rPr>
              <a:t>Design and Deploy Smart Meters with Prepaid Billing:</a:t>
            </a:r>
            <a:r>
              <a:rPr lang="en-US" sz="1900" i="0" u="none" strike="noStrike" baseline="0" dirty="0">
                <a:solidFill>
                  <a:srgbClr val="000000"/>
                </a:solidFill>
                <a:latin typeface="Times New Roman" panose="02020603050405020304" pitchFamily="18" charset="0"/>
              </a:rPr>
              <a:t> </a:t>
            </a:r>
            <a:r>
              <a:rPr lang="en-US" sz="1900" b="0" i="0" u="none" strike="noStrike" baseline="0" dirty="0">
                <a:solidFill>
                  <a:srgbClr val="000000"/>
                </a:solidFill>
                <a:latin typeface="Times New Roman" panose="02020603050405020304" pitchFamily="18" charset="0"/>
              </a:rPr>
              <a:t>Install smart electricity meters compliant with relevant standards across residential sites, ensuring they support prepaid billing and include remote disconnection/reconnection functionalities to enhance user control over energy consumption. </a:t>
            </a:r>
          </a:p>
          <a:p>
            <a:pPr algn="just"/>
            <a:r>
              <a:rPr lang="en-US" sz="1900" b="1" i="0" u="none" strike="noStrike" baseline="0" dirty="0">
                <a:solidFill>
                  <a:srgbClr val="000000"/>
                </a:solidFill>
                <a:latin typeface="Times New Roman" panose="02020603050405020304" pitchFamily="18" charset="0"/>
              </a:rPr>
              <a:t>Establish Advanced Communication System:</a:t>
            </a:r>
            <a:r>
              <a:rPr lang="en-US" sz="1900" i="0" u="none" strike="noStrike" baseline="0" dirty="0">
                <a:solidFill>
                  <a:srgbClr val="000000"/>
                </a:solidFill>
                <a:latin typeface="Times New Roman" panose="02020603050405020304" pitchFamily="18" charset="0"/>
              </a:rPr>
              <a:t> </a:t>
            </a:r>
            <a:r>
              <a:rPr lang="en-US" sz="1900" b="0" i="0" u="none" strike="noStrike" baseline="0" dirty="0">
                <a:solidFill>
                  <a:srgbClr val="000000"/>
                </a:solidFill>
                <a:latin typeface="Times New Roman" panose="02020603050405020304" pitchFamily="18" charset="0"/>
              </a:rPr>
              <a:t>Implement GPRS communication systems for real-time data transmission, meter status updates, and remote-control functionalities, providing seamless interaction between the smart meters and the user interface for both utility providers and consumers. </a:t>
            </a:r>
          </a:p>
          <a:p>
            <a:pPr algn="just"/>
            <a:r>
              <a:rPr lang="en-US" sz="1900" b="1" i="0" u="none" strike="noStrike" baseline="0" dirty="0">
                <a:solidFill>
                  <a:srgbClr val="000000"/>
                </a:solidFill>
                <a:latin typeface="Times New Roman" panose="02020603050405020304" pitchFamily="18" charset="0"/>
              </a:rPr>
              <a:t>Integrate Automated Meter Reading (AMR) and Tamper Detection: </a:t>
            </a:r>
            <a:r>
              <a:rPr lang="en-US" sz="1900" b="0" i="0" u="none" strike="noStrike" baseline="0" dirty="0">
                <a:solidFill>
                  <a:srgbClr val="000000"/>
                </a:solidFill>
                <a:latin typeface="Times New Roman" panose="02020603050405020304" pitchFamily="18" charset="0"/>
              </a:rPr>
              <a:t>Deploy AMR technology for accurate, real-time data collection and automated billing, while incorporating advanced tamper detection mechanisms to identify, log, and alert on tampering events to prevent unauthorized usage. </a:t>
            </a:r>
          </a:p>
          <a:p>
            <a:pPr marL="0" marR="0" lvl="0" indent="0" algn="l" rtl="0">
              <a:lnSpc>
                <a:spcPct val="100000"/>
              </a:lnSpc>
              <a:spcBef>
                <a:spcPts val="600"/>
              </a:spcBef>
              <a:spcAft>
                <a:spcPts val="0"/>
              </a:spcAft>
              <a:buClr>
                <a:schemeClr val="dk1"/>
              </a:buClr>
              <a:buSzPts val="3200"/>
              <a:buNone/>
            </a:pPr>
            <a:endParaRPr sz="2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342900" marR="0" lvl="0" indent="-342900" algn="l" rtl="0">
              <a:lnSpc>
                <a:spcPct val="100000"/>
              </a:lnSpc>
              <a:spcBef>
                <a:spcPts val="600"/>
              </a:spcBef>
              <a:spcAft>
                <a:spcPts val="0"/>
              </a:spcAft>
              <a:buClr>
                <a:schemeClr val="dk1"/>
              </a:buClr>
              <a:buSzPts val="3200"/>
              <a:buFont typeface="Arial"/>
              <a:buNone/>
            </a:pPr>
            <a:endParaRPr sz="32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3200"/>
              <a:buFont typeface="Arial"/>
              <a:buNone/>
            </a:pPr>
            <a:endParaRPr lang="en-US" sz="32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3200"/>
              <a:buFont typeface="Arial"/>
              <a:buNone/>
            </a:pPr>
            <a:endParaRPr lang="en-US"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3200"/>
              <a:buFont typeface="Arial"/>
              <a:buNone/>
            </a:pPr>
            <a:endParaRPr lang="en-US" sz="32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3200"/>
              <a:buFont typeface="Arial"/>
              <a:buNone/>
            </a:pPr>
            <a:endParaRPr sz="32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dirty="0">
              <a:solidFill>
                <a:srgbClr val="FF0000"/>
              </a:solidFill>
              <a:latin typeface="Calibri"/>
              <a:ea typeface="Calibri"/>
              <a:cs typeface="Calibri"/>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3200" b="0" i="0" u="none" dirty="0">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4263349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body" idx="1"/>
          </p:nvPr>
        </p:nvSpPr>
        <p:spPr>
          <a:xfrm>
            <a:off x="466725" y="885825"/>
            <a:ext cx="8677275" cy="34575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600"/>
              </a:spcBef>
              <a:spcAft>
                <a:spcPts val="0"/>
              </a:spcAft>
              <a:buClr>
                <a:schemeClr val="dk1"/>
              </a:buClr>
              <a:buSzPts val="3200"/>
              <a:buFont typeface="Arial"/>
              <a:buNone/>
            </a:pPr>
            <a:r>
              <a:rPr lang="en-IN" sz="3000" b="1" i="0" u="none" strike="noStrike" cap="none" dirty="0">
                <a:solidFill>
                  <a:srgbClr val="000000"/>
                </a:solidFill>
                <a:latin typeface="Times New Roman"/>
                <a:ea typeface="Times New Roman"/>
                <a:cs typeface="Times New Roman"/>
                <a:sym typeface="Times New Roman"/>
              </a:rPr>
              <a:t>Outcomes:</a:t>
            </a:r>
          </a:p>
          <a:p>
            <a:pPr algn="l"/>
            <a:endParaRPr lang="en-IN" sz="1800" b="0" i="0" u="none" strike="noStrike" baseline="0" dirty="0">
              <a:solidFill>
                <a:srgbClr val="000000"/>
              </a:solidFill>
              <a:latin typeface="Times New Roman" panose="02020603050405020304" pitchFamily="18" charset="0"/>
            </a:endParaRPr>
          </a:p>
          <a:p>
            <a:r>
              <a:rPr lang="en-US" sz="1800" b="1" i="0" u="none" strike="noStrike" baseline="0" dirty="0">
                <a:solidFill>
                  <a:srgbClr val="000000"/>
                </a:solidFill>
                <a:latin typeface="Times New Roman" panose="02020603050405020304" pitchFamily="18" charset="0"/>
              </a:rPr>
              <a:t>Enhanced Billing Accuracy and Efficiency: </a:t>
            </a:r>
            <a:r>
              <a:rPr lang="en-US" sz="1800" b="0" i="0" u="none" strike="noStrike" baseline="0" dirty="0">
                <a:solidFill>
                  <a:srgbClr val="000000"/>
                </a:solidFill>
                <a:latin typeface="Times New Roman" panose="02020603050405020304" pitchFamily="18" charset="0"/>
              </a:rPr>
              <a:t>Utilize advanced prepaid meters to ensure accurate and timely billing, reducing errors and providing mobile payment options for greater convenience and reliability. </a:t>
            </a:r>
          </a:p>
          <a:p>
            <a:r>
              <a:rPr lang="en-US" sz="1800" b="1" i="0" u="none" strike="noStrike" baseline="0" dirty="0">
                <a:solidFill>
                  <a:srgbClr val="000000"/>
                </a:solidFill>
                <a:latin typeface="Times New Roman" panose="02020603050405020304" pitchFamily="18" charset="0"/>
              </a:rPr>
              <a:t>Optimized Energy Management and Billing: </a:t>
            </a:r>
            <a:r>
              <a:rPr lang="en-US" sz="1800" b="0" i="0" u="none" strike="noStrike" baseline="0" dirty="0">
                <a:solidFill>
                  <a:srgbClr val="000000"/>
                </a:solidFill>
                <a:latin typeface="Times New Roman" panose="02020603050405020304" pitchFamily="18" charset="0"/>
              </a:rPr>
              <a:t>Achieve precise meter readings and accurate billing, leading to effective load management and enhanced overall consumer satisfaction. </a:t>
            </a:r>
          </a:p>
          <a:p>
            <a:r>
              <a:rPr lang="en-US" sz="1800" b="1" i="0" u="none" strike="noStrike" baseline="0" dirty="0">
                <a:solidFill>
                  <a:srgbClr val="000000"/>
                </a:solidFill>
                <a:latin typeface="Times New Roman" panose="02020603050405020304" pitchFamily="18" charset="0"/>
              </a:rPr>
              <a:t>Real-Time Data Insights: </a:t>
            </a:r>
            <a:r>
              <a:rPr lang="en-US" sz="1800" b="0" i="0" u="none" strike="noStrike" baseline="0" dirty="0">
                <a:solidFill>
                  <a:srgbClr val="000000"/>
                </a:solidFill>
                <a:latin typeface="Times New Roman" panose="02020603050405020304" pitchFamily="18" charset="0"/>
              </a:rPr>
              <a:t>Provide consumers and utility providers with real-time access to energy consumption data, allowing for improved monitoring, prompt issue resolution, and informed decision-making. </a:t>
            </a:r>
          </a:p>
          <a:p>
            <a:r>
              <a:rPr lang="en-US" sz="1800" b="1" i="0" u="none" strike="noStrike" baseline="0" dirty="0">
                <a:solidFill>
                  <a:srgbClr val="000000"/>
                </a:solidFill>
                <a:latin typeface="Times New Roman" panose="02020603050405020304" pitchFamily="18" charset="0"/>
              </a:rPr>
              <a:t>Effective Tamper Detection: </a:t>
            </a:r>
            <a:r>
              <a:rPr lang="en-US" sz="1800" b="0" i="0" u="none" strike="noStrike" baseline="0" dirty="0">
                <a:solidFill>
                  <a:srgbClr val="000000"/>
                </a:solidFill>
                <a:latin typeface="Times New Roman" panose="02020603050405020304" pitchFamily="18" charset="0"/>
              </a:rPr>
              <a:t>Implement advanced tamper detection mechanisms that reduce unauthorized usage and ensure reliable billing, enhancing overall system integrity and security </a:t>
            </a:r>
          </a:p>
          <a:p>
            <a:pPr marL="342900" marR="0" lvl="0" indent="-342900" algn="l" rtl="0">
              <a:lnSpc>
                <a:spcPct val="100000"/>
              </a:lnSpc>
              <a:spcBef>
                <a:spcPts val="600"/>
              </a:spcBef>
              <a:spcAft>
                <a:spcPts val="0"/>
              </a:spcAft>
              <a:buClr>
                <a:schemeClr val="dk1"/>
              </a:buClr>
              <a:buSzPts val="3200"/>
              <a:buFont typeface="Arial"/>
              <a:buNone/>
            </a:pPr>
            <a:endParaRPr sz="32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3200"/>
              <a:buFont typeface="Arial"/>
              <a:buNone/>
            </a:pPr>
            <a:endParaRPr lang="en-US" sz="32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3200"/>
              <a:buFont typeface="Arial"/>
              <a:buNone/>
            </a:pPr>
            <a:endParaRPr lang="en-US"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3200"/>
              <a:buFont typeface="Arial"/>
              <a:buNone/>
            </a:pPr>
            <a:endParaRPr lang="en-US" sz="32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3200"/>
              <a:buFont typeface="Arial"/>
              <a:buNone/>
            </a:pPr>
            <a:endParaRPr sz="32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dirty="0">
              <a:solidFill>
                <a:srgbClr val="FF0000"/>
              </a:solidFill>
              <a:latin typeface="Calibri"/>
              <a:ea typeface="Calibri"/>
              <a:cs typeface="Calibri"/>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3200" b="0" i="0" u="none" dirty="0">
              <a:solidFill>
                <a:srgbClr val="FF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body" idx="1"/>
          </p:nvPr>
        </p:nvSpPr>
        <p:spPr>
          <a:xfrm>
            <a:off x="381000" y="480645"/>
            <a:ext cx="8763000" cy="571060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None/>
            </a:pPr>
            <a:r>
              <a:rPr lang="en-US" sz="3000" b="1" i="0" u="none" dirty="0">
                <a:solidFill>
                  <a:schemeClr val="dk1"/>
                </a:solidFill>
                <a:latin typeface="Times New Roman"/>
                <a:ea typeface="Times New Roman"/>
                <a:cs typeface="Times New Roman"/>
                <a:sym typeface="Times New Roman"/>
              </a:rPr>
              <a:t>Problem Definition:</a:t>
            </a:r>
          </a:p>
          <a:p>
            <a:pPr marL="114300" indent="0" algn="just">
              <a:buNone/>
            </a:pPr>
            <a:r>
              <a:rPr lang="en-IN" sz="1800" b="0" i="0" u="none" strike="noStrike" baseline="0" dirty="0">
                <a:solidFill>
                  <a:srgbClr val="000000"/>
                </a:solidFill>
                <a:latin typeface="Times New Roman" panose="02020603050405020304" pitchFamily="18" charset="0"/>
              </a:rPr>
              <a:t>To design Automated electricity metering system for single phase using ESP WROOM 32 controller, GPRS module and PZEM-004T energy metering module to provide consumption, prepaid billing , remote disconnection/reconnection and real time energy data monitoring . </a:t>
            </a:r>
          </a:p>
          <a:p>
            <a:pPr marL="114300" indent="0">
              <a:buNone/>
            </a:pPr>
            <a:endParaRPr lang="en-IN" sz="1800" dirty="0">
              <a:solidFill>
                <a:srgbClr val="000000"/>
              </a:solidFill>
              <a:latin typeface="Times New Roman" panose="02020603050405020304" pitchFamily="18" charset="0"/>
            </a:endParaRPr>
          </a:p>
          <a:p>
            <a:pPr marL="114300" indent="0">
              <a:buNone/>
            </a:pPr>
            <a:r>
              <a:rPr lang="en-IN" sz="3000" b="1" i="0" u="none" strike="noStrike" baseline="0" dirty="0">
                <a:solidFill>
                  <a:srgbClr val="000000"/>
                </a:solidFill>
                <a:latin typeface="Times New Roman" panose="02020603050405020304" pitchFamily="18" charset="0"/>
              </a:rPr>
              <a:t>Motivation:</a:t>
            </a:r>
            <a:r>
              <a:rPr lang="en-IN" i="0" u="none" strike="noStrike" baseline="0" dirty="0">
                <a:solidFill>
                  <a:srgbClr val="000000"/>
                </a:solidFill>
                <a:latin typeface="Times New Roman" panose="02020603050405020304" pitchFamily="18" charset="0"/>
              </a:rPr>
              <a:t> </a:t>
            </a:r>
          </a:p>
          <a:p>
            <a:pPr marL="114300" indent="0" algn="just">
              <a:buNone/>
            </a:pPr>
            <a:r>
              <a:rPr lang="en-US" sz="1800" b="0" i="0" u="none" strike="noStrike" baseline="0" dirty="0">
                <a:solidFill>
                  <a:srgbClr val="000000"/>
                </a:solidFill>
                <a:latin typeface="Times New Roman" panose="02020603050405020304" pitchFamily="18" charset="0"/>
              </a:rPr>
              <a:t>The increasing demand for efficient energy management and billing systems in residential and industrial setups has led to the need for smart metering solutions. This project aims to simplify billing and consumption monitoring for both users and utility providers, offering transparency and automation through IoT technology. </a:t>
            </a:r>
            <a:endParaRPr lang="en-IN" sz="1800" b="0" i="0" u="none" strike="noStrike" baseline="0" dirty="0">
              <a:solidFill>
                <a:srgbClr val="000000"/>
              </a:solidFill>
              <a:latin typeface="Times New Roman" panose="02020603050405020304" pitchFamily="18" charset="0"/>
            </a:endParaRPr>
          </a:p>
          <a:p>
            <a:pPr marL="114300" indent="0">
              <a:buNone/>
            </a:pPr>
            <a:endParaRPr lang="en-IN" sz="1800" dirty="0">
              <a:solidFill>
                <a:srgbClr val="000000"/>
              </a:solidFill>
              <a:latin typeface="Times New Roman" panose="02020603050405020304" pitchFamily="18" charset="0"/>
              <a:ea typeface="Times New Roman"/>
              <a:cs typeface="Times New Roman"/>
              <a:sym typeface="Times New Roman"/>
            </a:endParaRPr>
          </a:p>
          <a:p>
            <a:pPr marL="114300" indent="0">
              <a:buNone/>
            </a:pPr>
            <a:r>
              <a:rPr lang="en-US" sz="3000" b="1"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Social Relevance of the project: </a:t>
            </a:r>
          </a:p>
          <a:p>
            <a:pPr marL="114300" indent="0" algn="just">
              <a:buNone/>
            </a:pPr>
            <a:r>
              <a:rPr lang="en-US" sz="1800" dirty="0">
                <a:latin typeface="Times New Roman" panose="02020603050405020304" pitchFamily="18" charset="0"/>
                <a:cs typeface="Times New Roman" panose="02020603050405020304" pitchFamily="18" charset="0"/>
              </a:rPr>
              <a:t>Implementing an Automated Metering System will significantly enhance the accuracy of billing and reduce customer </a:t>
            </a:r>
            <a:r>
              <a:rPr lang="en-IN" sz="1800" dirty="0">
                <a:latin typeface="Times New Roman" panose="02020603050405020304" pitchFamily="18" charset="0"/>
                <a:cs typeface="Times New Roman" panose="02020603050405020304" pitchFamily="18" charset="0"/>
              </a:rPr>
              <a:t>dissatisfaction, </a:t>
            </a:r>
            <a:r>
              <a:rPr lang="en-US" sz="1800" dirty="0">
                <a:latin typeface="Times New Roman" panose="02020603050405020304" pitchFamily="18" charset="0"/>
                <a:cs typeface="Times New Roman" panose="02020603050405020304" pitchFamily="18" charset="0"/>
              </a:rPr>
              <a:t>promoting fair and transparent energy use. By minimizing the need for physical disconnections, this technology will contribute to a more reliable and user-friendly energy management system, benefiting both consumers and utility providers.</a:t>
            </a:r>
          </a:p>
          <a:p>
            <a:pPr marL="342900" marR="0" lvl="0" indent="-342900" algn="l" rtl="0">
              <a:lnSpc>
                <a:spcPct val="100000"/>
              </a:lnSpc>
              <a:spcBef>
                <a:spcPts val="0"/>
              </a:spcBef>
              <a:spcAft>
                <a:spcPts val="0"/>
              </a:spcAft>
              <a:buClr>
                <a:schemeClr val="dk1"/>
              </a:buClr>
              <a:buSzPts val="3200"/>
              <a:buFont typeface="Arial"/>
              <a:buNone/>
            </a:pPr>
            <a:endParaRPr dirty="0"/>
          </a:p>
        </p:txBody>
      </p:sp>
    </p:spTree>
    <p:extLst>
      <p:ext uri="{BB962C8B-B14F-4D97-AF65-F5344CB8AC3E}">
        <p14:creationId xmlns:p14="http://schemas.microsoft.com/office/powerpoint/2010/main" val="742060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body" idx="1"/>
          </p:nvPr>
        </p:nvSpPr>
        <p:spPr>
          <a:xfrm>
            <a:off x="214531" y="330253"/>
            <a:ext cx="8229600" cy="67939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None/>
            </a:pPr>
            <a:r>
              <a:rPr lang="en-US" sz="3000" b="1" i="0" u="none" dirty="0">
                <a:solidFill>
                  <a:schemeClr val="dk1"/>
                </a:solidFill>
                <a:latin typeface="Times New Roman"/>
                <a:ea typeface="Times New Roman"/>
                <a:cs typeface="Times New Roman"/>
                <a:sym typeface="Times New Roman"/>
              </a:rPr>
              <a:t>Literature Survey:</a:t>
            </a:r>
            <a:endParaRPr sz="3000" b="1" dirty="0"/>
          </a:p>
        </p:txBody>
      </p:sp>
      <p:graphicFrame>
        <p:nvGraphicFramePr>
          <p:cNvPr id="104" name="Google Shape;104;p16"/>
          <p:cNvGraphicFramePr/>
          <p:nvPr>
            <p:extLst>
              <p:ext uri="{D42A27DB-BD31-4B8C-83A1-F6EECF244321}">
                <p14:modId xmlns:p14="http://schemas.microsoft.com/office/powerpoint/2010/main" val="2621658351"/>
              </p:ext>
            </p:extLst>
          </p:nvPr>
        </p:nvGraphicFramePr>
        <p:xfrm>
          <a:off x="347881" y="1181102"/>
          <a:ext cx="8443694" cy="5413729"/>
        </p:xfrm>
        <a:graphic>
          <a:graphicData uri="http://schemas.openxmlformats.org/drawingml/2006/table">
            <a:tbl>
              <a:tblPr firstRow="1" bandRow="1">
                <a:noFill/>
                <a:tableStyleId>{FA8C056A-42DE-4C38-9A3D-CAF4E02FDA2F}</a:tableStyleId>
              </a:tblPr>
              <a:tblGrid>
                <a:gridCol w="2833469">
                  <a:extLst>
                    <a:ext uri="{9D8B030D-6E8A-4147-A177-3AD203B41FA5}">
                      <a16:colId xmlns:a16="http://schemas.microsoft.com/office/drawing/2014/main" val="20000"/>
                    </a:ext>
                  </a:extLst>
                </a:gridCol>
                <a:gridCol w="2674725">
                  <a:extLst>
                    <a:ext uri="{9D8B030D-6E8A-4147-A177-3AD203B41FA5}">
                      <a16:colId xmlns:a16="http://schemas.microsoft.com/office/drawing/2014/main" val="20001"/>
                    </a:ext>
                  </a:extLst>
                </a:gridCol>
                <a:gridCol w="2935500">
                  <a:extLst>
                    <a:ext uri="{9D8B030D-6E8A-4147-A177-3AD203B41FA5}">
                      <a16:colId xmlns:a16="http://schemas.microsoft.com/office/drawing/2014/main" val="20002"/>
                    </a:ext>
                  </a:extLst>
                </a:gridCol>
              </a:tblGrid>
              <a:tr h="614229">
                <a:tc>
                  <a:txBody>
                    <a:bodyPr/>
                    <a:lstStyle/>
                    <a:p>
                      <a:pPr marL="0" marR="0" lvl="0" indent="0" algn="l" rtl="0">
                        <a:lnSpc>
                          <a:spcPct val="100000"/>
                        </a:lnSpc>
                        <a:spcBef>
                          <a:spcPts val="0"/>
                        </a:spcBef>
                        <a:spcAft>
                          <a:spcPts val="0"/>
                        </a:spcAft>
                        <a:buNone/>
                      </a:pPr>
                      <a:r>
                        <a:rPr lang="en-US" sz="1400" u="none" strike="noStrike" cap="none" dirty="0"/>
                        <a:t>Title of Paper And Year</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dirty="0"/>
                        <a:t>Technology/Algorithm used</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Remarks</a:t>
                      </a:r>
                      <a:endParaRPr sz="1400" u="none" strike="noStrike" cap="none"/>
                    </a:p>
                  </a:txBody>
                  <a:tcPr marL="91450" marR="91450" marT="45725" marB="45725"/>
                </a:tc>
                <a:extLst>
                  <a:ext uri="{0D108BD9-81ED-4DB2-BD59-A6C34878D82A}">
                    <a16:rowId xmlns:a16="http://schemas.microsoft.com/office/drawing/2014/main" val="10000"/>
                  </a:ext>
                </a:extLst>
              </a:tr>
              <a:tr h="1160768">
                <a:tc>
                  <a:txBody>
                    <a:bodyPr/>
                    <a:lstStyle/>
                    <a:p>
                      <a:pPr marL="0" marR="0" lvl="0" indent="0" algn="l" rtl="0">
                        <a:lnSpc>
                          <a:spcPct val="100000"/>
                        </a:lnSpc>
                        <a:spcBef>
                          <a:spcPts val="0"/>
                        </a:spcBef>
                        <a:spcAft>
                          <a:spcPts val="0"/>
                        </a:spcAft>
                        <a:buNone/>
                      </a:pPr>
                      <a:r>
                        <a:rPr lang="en-US" dirty="0"/>
                        <a:t>A Unified Metering System Deployed for Water and Energy Monitoring in Smart City (2023)</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US" dirty="0"/>
                        <a:t>LPWAN, Water flow sensor, PZEM-004T</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US" dirty="0"/>
                        <a:t>Integrated wireless system for real-time water and energy monitoring.</a:t>
                      </a:r>
                      <a:endParaRPr sz="1400" u="none" strike="noStrike" cap="none" dirty="0"/>
                    </a:p>
                  </a:txBody>
                  <a:tcPr marL="91450" marR="91450" marT="45725" marB="45725"/>
                </a:tc>
                <a:extLst>
                  <a:ext uri="{0D108BD9-81ED-4DB2-BD59-A6C34878D82A}">
                    <a16:rowId xmlns:a16="http://schemas.microsoft.com/office/drawing/2014/main" val="10001"/>
                  </a:ext>
                </a:extLst>
              </a:tr>
              <a:tr h="804062">
                <a:tc>
                  <a:txBody>
                    <a:bodyPr/>
                    <a:lstStyle/>
                    <a:p>
                      <a:pPr marL="0" marR="0" lvl="0" indent="0" algn="l" rtl="0">
                        <a:lnSpc>
                          <a:spcPct val="100000"/>
                        </a:lnSpc>
                        <a:spcBef>
                          <a:spcPts val="0"/>
                        </a:spcBef>
                        <a:spcAft>
                          <a:spcPts val="0"/>
                        </a:spcAft>
                        <a:buNone/>
                      </a:pPr>
                      <a:r>
                        <a:rPr lang="en-US" dirty="0"/>
                        <a:t>Utilization of IoT and Smart Meters for Energy Management (2023)</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IN" dirty="0"/>
                        <a:t>IoT, </a:t>
                      </a:r>
                      <a:r>
                        <a:rPr lang="en-IN" dirty="0" err="1"/>
                        <a:t>Entrack</a:t>
                      </a:r>
                      <a:r>
                        <a:rPr lang="en-IN" dirty="0"/>
                        <a:t> software</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US" dirty="0"/>
                        <a:t>Effective energy management using IoT and smart meters.</a:t>
                      </a:r>
                      <a:endParaRPr sz="1400" u="none" strike="noStrike" cap="none" dirty="0"/>
                    </a:p>
                  </a:txBody>
                  <a:tcPr marL="91450" marR="91450" marT="45725" marB="45725"/>
                </a:tc>
                <a:extLst>
                  <a:ext uri="{0D108BD9-81ED-4DB2-BD59-A6C34878D82A}">
                    <a16:rowId xmlns:a16="http://schemas.microsoft.com/office/drawing/2014/main" val="10002"/>
                  </a:ext>
                </a:extLst>
              </a:tr>
              <a:tr h="944083">
                <a:tc>
                  <a:txBody>
                    <a:bodyPr/>
                    <a:lstStyle/>
                    <a:p>
                      <a:pPr marL="0" marR="0" lvl="0" indent="0" algn="l" rtl="0">
                        <a:lnSpc>
                          <a:spcPct val="100000"/>
                        </a:lnSpc>
                        <a:spcBef>
                          <a:spcPts val="0"/>
                        </a:spcBef>
                        <a:spcAft>
                          <a:spcPts val="0"/>
                        </a:spcAft>
                        <a:buNone/>
                      </a:pPr>
                      <a:r>
                        <a:rPr lang="en-US" dirty="0"/>
                        <a:t>Home Energy Management System in Kerala by Using Advanced Metering Infrastructure (2024)</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fr-FR" dirty="0"/>
                        <a:t>IoT, Modbus communication, GSM modules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US" dirty="0"/>
                        <a:t>Real-time energy monitoring and management using advanced meters.</a:t>
                      </a:r>
                      <a:endParaRPr sz="1400" u="none" strike="noStrike" cap="none" dirty="0"/>
                    </a:p>
                  </a:txBody>
                  <a:tcPr marL="91450" marR="91450" marT="45725" marB="45725"/>
                </a:tc>
                <a:extLst>
                  <a:ext uri="{0D108BD9-81ED-4DB2-BD59-A6C34878D82A}">
                    <a16:rowId xmlns:a16="http://schemas.microsoft.com/office/drawing/2014/main" val="10003"/>
                  </a:ext>
                </a:extLst>
              </a:tr>
              <a:tr h="944083">
                <a:tc>
                  <a:txBody>
                    <a:bodyPr/>
                    <a:lstStyle/>
                    <a:p>
                      <a:pPr marL="0" marR="0" lvl="0" indent="0" algn="l" rtl="0">
                        <a:lnSpc>
                          <a:spcPct val="100000"/>
                        </a:lnSpc>
                        <a:spcBef>
                          <a:spcPts val="0"/>
                        </a:spcBef>
                        <a:spcAft>
                          <a:spcPts val="0"/>
                        </a:spcAft>
                        <a:buNone/>
                      </a:pPr>
                      <a:r>
                        <a:rPr lang="en-US" dirty="0"/>
                        <a:t>Design, Implementation, and Deployment of an IoT Based Smart Energy Management System (2021)</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IN" dirty="0"/>
                        <a:t>IoT, SEMS, non-intrusive load monitoring</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US" dirty="0"/>
                        <a:t>IoT-based energy management with remote control and efficient data gathering.</a:t>
                      </a:r>
                      <a:endParaRPr sz="1400" u="none" strike="noStrike" cap="none" dirty="0"/>
                    </a:p>
                  </a:txBody>
                  <a:tcPr marL="91450" marR="91450" marT="45725" marB="45725"/>
                </a:tc>
                <a:extLst>
                  <a:ext uri="{0D108BD9-81ED-4DB2-BD59-A6C34878D82A}">
                    <a16:rowId xmlns:a16="http://schemas.microsoft.com/office/drawing/2014/main" val="10004"/>
                  </a:ext>
                </a:extLst>
              </a:tr>
              <a:tr h="944083">
                <a:tc>
                  <a:txBody>
                    <a:bodyPr/>
                    <a:lstStyle/>
                    <a:p>
                      <a:pPr marL="0" marR="0" lvl="0" indent="0" algn="l" rtl="0">
                        <a:lnSpc>
                          <a:spcPct val="100000"/>
                        </a:lnSpc>
                        <a:spcBef>
                          <a:spcPts val="0"/>
                        </a:spcBef>
                        <a:spcAft>
                          <a:spcPts val="0"/>
                        </a:spcAft>
                        <a:buNone/>
                      </a:pPr>
                      <a:r>
                        <a:rPr lang="en-IN" dirty="0"/>
                        <a:t>Development of Indigenous Smart Energy Meter adhering Indian Standards for Smart Grid (2020)</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IN" dirty="0"/>
                        <a:t>AMI, Smart Grid, Demand Side Management</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None/>
                      </a:pPr>
                      <a:r>
                        <a:rPr lang="en-US" dirty="0"/>
                        <a:t>Smart meters with advanced features for Indian Smart Grid standards.</a:t>
                      </a:r>
                      <a:endParaRPr sz="1400" u="none" strike="noStrike" cap="none" dirty="0"/>
                    </a:p>
                  </a:txBody>
                  <a:tcPr marL="91450" marR="91450" marT="45725" marB="45725"/>
                </a:tc>
                <a:extLst>
                  <a:ext uri="{0D108BD9-81ED-4DB2-BD59-A6C34878D82A}">
                    <a16:rowId xmlns:a16="http://schemas.microsoft.com/office/drawing/2014/main" val="242713412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body" idx="1"/>
          </p:nvPr>
        </p:nvSpPr>
        <p:spPr>
          <a:xfrm>
            <a:off x="209551" y="356993"/>
            <a:ext cx="4733923" cy="609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None/>
            </a:pPr>
            <a:r>
              <a:rPr lang="en-US" sz="3000" b="1" i="0" u="none" dirty="0">
                <a:solidFill>
                  <a:schemeClr val="dk1"/>
                </a:solidFill>
                <a:latin typeface="Times New Roman"/>
                <a:ea typeface="Times New Roman"/>
                <a:cs typeface="Times New Roman"/>
                <a:sym typeface="Times New Roman"/>
              </a:rPr>
              <a:t> Proposed Block Diagram</a:t>
            </a:r>
            <a:endParaRPr sz="3000" b="1" dirty="0"/>
          </a:p>
        </p:txBody>
      </p:sp>
      <p:pic>
        <p:nvPicPr>
          <p:cNvPr id="195" name="Picture 194">
            <a:extLst>
              <a:ext uri="{FF2B5EF4-FFF2-40B4-BE49-F238E27FC236}">
                <a16:creationId xmlns:a16="http://schemas.microsoft.com/office/drawing/2014/main" id="{2E92E426-8C9C-4EFF-817A-7E8E46F483C4}"/>
              </a:ext>
            </a:extLst>
          </p:cNvPr>
          <p:cNvPicPr>
            <a:picLocks noChangeAspect="1"/>
          </p:cNvPicPr>
          <p:nvPr/>
        </p:nvPicPr>
        <p:blipFill>
          <a:blip r:embed="rId3"/>
          <a:stretch>
            <a:fillRect/>
          </a:stretch>
        </p:blipFill>
        <p:spPr>
          <a:xfrm>
            <a:off x="1059362" y="966593"/>
            <a:ext cx="6874963" cy="55272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5501FFA-ADFB-4F33-9B0D-92FD39904675}"/>
              </a:ext>
            </a:extLst>
          </p:cNvPr>
          <p:cNvPicPr>
            <a:picLocks noChangeAspect="1"/>
          </p:cNvPicPr>
          <p:nvPr/>
        </p:nvPicPr>
        <p:blipFill>
          <a:blip r:embed="rId2"/>
          <a:stretch>
            <a:fillRect/>
          </a:stretch>
        </p:blipFill>
        <p:spPr>
          <a:xfrm>
            <a:off x="213704" y="413916"/>
            <a:ext cx="8716591" cy="6030167"/>
          </a:xfrm>
          <a:prstGeom prst="rect">
            <a:avLst/>
          </a:prstGeom>
        </p:spPr>
      </p:pic>
    </p:spTree>
    <p:extLst>
      <p:ext uri="{BB962C8B-B14F-4D97-AF65-F5344CB8AC3E}">
        <p14:creationId xmlns:p14="http://schemas.microsoft.com/office/powerpoint/2010/main" val="3826437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F0F87A3-5E8E-4952-BBB4-3056A18E7A3B}"/>
              </a:ext>
            </a:extLst>
          </p:cNvPr>
          <p:cNvGraphicFramePr>
            <a:graphicFrameLocks noGrp="1"/>
          </p:cNvGraphicFramePr>
          <p:nvPr>
            <p:extLst>
              <p:ext uri="{D42A27DB-BD31-4B8C-83A1-F6EECF244321}">
                <p14:modId xmlns:p14="http://schemas.microsoft.com/office/powerpoint/2010/main" val="2143449272"/>
              </p:ext>
            </p:extLst>
          </p:nvPr>
        </p:nvGraphicFramePr>
        <p:xfrm>
          <a:off x="762001" y="793096"/>
          <a:ext cx="7029447" cy="5868361"/>
        </p:xfrm>
        <a:graphic>
          <a:graphicData uri="http://schemas.openxmlformats.org/drawingml/2006/table">
            <a:tbl>
              <a:tblPr firstRow="1" firstCol="1" bandRow="1">
                <a:tableStyleId>{FA8C056A-42DE-4C38-9A3D-CAF4E02FDA2F}</a:tableStyleId>
              </a:tblPr>
              <a:tblGrid>
                <a:gridCol w="2939243">
                  <a:extLst>
                    <a:ext uri="{9D8B030D-6E8A-4147-A177-3AD203B41FA5}">
                      <a16:colId xmlns:a16="http://schemas.microsoft.com/office/drawing/2014/main" val="3689376858"/>
                    </a:ext>
                  </a:extLst>
                </a:gridCol>
                <a:gridCol w="2644365">
                  <a:extLst>
                    <a:ext uri="{9D8B030D-6E8A-4147-A177-3AD203B41FA5}">
                      <a16:colId xmlns:a16="http://schemas.microsoft.com/office/drawing/2014/main" val="1172127518"/>
                    </a:ext>
                  </a:extLst>
                </a:gridCol>
                <a:gridCol w="1445839">
                  <a:extLst>
                    <a:ext uri="{9D8B030D-6E8A-4147-A177-3AD203B41FA5}">
                      <a16:colId xmlns:a16="http://schemas.microsoft.com/office/drawing/2014/main" val="2623692020"/>
                    </a:ext>
                  </a:extLst>
                </a:gridCol>
              </a:tblGrid>
              <a:tr h="431960">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Module Name</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Module Number</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Link</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1288983284"/>
                  </a:ext>
                </a:extLst>
              </a:tr>
              <a:tr h="365842">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METERING MODULE</a:t>
                      </a:r>
                      <a:endParaRPr lang="en-IN" sz="1800" b="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kern="100">
                          <a:effectLst/>
                          <a:latin typeface="Times New Roman" panose="02020603050405020304" pitchFamily="18" charset="0"/>
                          <a:cs typeface="Times New Roman" panose="02020603050405020304" pitchFamily="18" charset="0"/>
                        </a:rPr>
                        <a:t>PZEM-004T</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u="sng" kern="100" dirty="0">
                          <a:effectLst/>
                          <a:latin typeface="Times New Roman" panose="02020603050405020304" pitchFamily="18" charset="0"/>
                          <a:cs typeface="Times New Roman" panose="02020603050405020304" pitchFamily="18" charset="0"/>
                          <a:hlinkClick r:id="rId2"/>
                        </a:rPr>
                        <a:t>Link</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2879770547"/>
                  </a:ext>
                </a:extLst>
              </a:tr>
              <a:tr h="447452">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MICRO-CONTROLLER</a:t>
                      </a:r>
                      <a:endParaRPr lang="en-IN" sz="1800" b="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ESP 32 WROOM 32</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u="sng" kern="100">
                          <a:effectLst/>
                          <a:latin typeface="Times New Roman" panose="02020603050405020304" pitchFamily="18" charset="0"/>
                          <a:cs typeface="Times New Roman" panose="02020603050405020304" pitchFamily="18" charset="0"/>
                          <a:hlinkClick r:id="rId3"/>
                        </a:rPr>
                        <a:t>Link</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758264854"/>
                  </a:ext>
                </a:extLst>
              </a:tr>
              <a:tr h="308561">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RTC MODULE</a:t>
                      </a:r>
                    </a:p>
                  </a:txBody>
                  <a:tcPr marL="35923" marR="35923" marT="0" marB="0">
                    <a:noFill/>
                  </a:tcPr>
                </a:tc>
                <a:tc>
                  <a:txBody>
                    <a:bodyPr/>
                    <a:lstStyle/>
                    <a:p>
                      <a:pPr algn="ctr">
                        <a:lnSpc>
                          <a:spcPct val="115000"/>
                        </a:lnSpc>
                        <a:spcAft>
                          <a:spcPts val="800"/>
                        </a:spcAft>
                      </a:pPr>
                      <a:r>
                        <a:rPr lang="en-IN" sz="1800" kern="100">
                          <a:effectLst/>
                          <a:latin typeface="Times New Roman" panose="02020603050405020304" pitchFamily="18" charset="0"/>
                          <a:cs typeface="Times New Roman" panose="02020603050405020304" pitchFamily="18" charset="0"/>
                        </a:rPr>
                        <a:t>DS3231</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u="sng" kern="100">
                          <a:effectLst/>
                          <a:latin typeface="Times New Roman" panose="02020603050405020304" pitchFamily="18" charset="0"/>
                          <a:cs typeface="Times New Roman" panose="02020603050405020304" pitchFamily="18" charset="0"/>
                          <a:hlinkClick r:id="rId4"/>
                        </a:rPr>
                        <a:t>Link</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1288812218"/>
                  </a:ext>
                </a:extLst>
              </a:tr>
              <a:tr h="308561">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EEPROM MODULE</a:t>
                      </a:r>
                      <a:endParaRPr lang="en-IN" sz="1800" b="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kern="100">
                          <a:effectLst/>
                          <a:latin typeface="Times New Roman" panose="02020603050405020304" pitchFamily="18" charset="0"/>
                          <a:cs typeface="Times New Roman" panose="02020603050405020304" pitchFamily="18" charset="0"/>
                        </a:rPr>
                        <a:t>AT24C256</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u="sng" kern="100">
                          <a:effectLst/>
                          <a:latin typeface="Times New Roman" panose="02020603050405020304" pitchFamily="18" charset="0"/>
                          <a:cs typeface="Times New Roman" panose="02020603050405020304" pitchFamily="18" charset="0"/>
                          <a:hlinkClick r:id="rId5"/>
                        </a:rPr>
                        <a:t>Link</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3362520691"/>
                  </a:ext>
                </a:extLst>
              </a:tr>
              <a:tr h="371486">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20*4 LCD</a:t>
                      </a:r>
                    </a:p>
                  </a:txBody>
                  <a:tcPr marL="35923" marR="35923" marT="0" marB="0">
                    <a:noFill/>
                  </a:tcPr>
                </a:tc>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JHD629-204A </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u="sng" kern="100">
                          <a:effectLst/>
                          <a:latin typeface="Times New Roman" panose="02020603050405020304" pitchFamily="18" charset="0"/>
                          <a:cs typeface="Times New Roman" panose="02020603050405020304" pitchFamily="18" charset="0"/>
                          <a:hlinkClick r:id="rId6"/>
                        </a:rPr>
                        <a:t>Link</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3662748885"/>
                  </a:ext>
                </a:extLst>
              </a:tr>
              <a:tr h="308561">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GPRS</a:t>
                      </a:r>
                      <a:endParaRPr lang="en-IN" sz="1800" b="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kern="100">
                          <a:effectLst/>
                          <a:latin typeface="Times New Roman" panose="02020603050405020304" pitchFamily="18" charset="0"/>
                          <a:cs typeface="Times New Roman" panose="02020603050405020304" pitchFamily="18" charset="0"/>
                        </a:rPr>
                        <a:t>SIM 800L</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u="sng" kern="100">
                          <a:effectLst/>
                          <a:latin typeface="Times New Roman" panose="02020603050405020304" pitchFamily="18" charset="0"/>
                          <a:cs typeface="Times New Roman" panose="02020603050405020304" pitchFamily="18" charset="0"/>
                          <a:hlinkClick r:id="rId7"/>
                        </a:rPr>
                        <a:t>Link</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209539250"/>
                  </a:ext>
                </a:extLst>
              </a:tr>
              <a:tr h="643995">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VOLTAGE SENSOR MODULE</a:t>
                      </a:r>
                    </a:p>
                  </a:txBody>
                  <a:tcPr marL="35923" marR="35923" marT="0" marB="0">
                    <a:noFill/>
                  </a:tcPr>
                </a:tc>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ZMPT101B </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u="sng" kern="100">
                          <a:effectLst/>
                          <a:latin typeface="Times New Roman" panose="02020603050405020304" pitchFamily="18" charset="0"/>
                          <a:cs typeface="Times New Roman" panose="02020603050405020304" pitchFamily="18" charset="0"/>
                          <a:hlinkClick r:id="rId8"/>
                        </a:rPr>
                        <a:t>Link</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2794584546"/>
                  </a:ext>
                </a:extLst>
              </a:tr>
              <a:tr h="668801">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HALL EFFECT SENSOR MODULE</a:t>
                      </a:r>
                      <a:endParaRPr lang="en-IN" sz="1800" b="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A1220 </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u="sng" kern="100">
                          <a:effectLst/>
                          <a:latin typeface="Times New Roman" panose="02020603050405020304" pitchFamily="18" charset="0"/>
                          <a:cs typeface="Times New Roman" panose="02020603050405020304" pitchFamily="18" charset="0"/>
                          <a:hlinkClick r:id="rId9"/>
                        </a:rPr>
                        <a:t>Link</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3876846915"/>
                  </a:ext>
                </a:extLst>
              </a:tr>
              <a:tr h="308561">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 I2C MULTIPLEXER</a:t>
                      </a:r>
                    </a:p>
                  </a:txBody>
                  <a:tcPr marL="35923" marR="35923" marT="0" marB="0">
                    <a:noFill/>
                  </a:tcPr>
                </a:tc>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TCA9548A </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u="sng" kern="100">
                          <a:effectLst/>
                          <a:latin typeface="Times New Roman" panose="02020603050405020304" pitchFamily="18" charset="0"/>
                          <a:cs typeface="Times New Roman" panose="02020603050405020304" pitchFamily="18" charset="0"/>
                          <a:hlinkClick r:id="rId10"/>
                        </a:rPr>
                        <a:t>Link</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653400393"/>
                  </a:ext>
                </a:extLst>
              </a:tr>
              <a:tr h="308561">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PUSH BUTTON</a:t>
                      </a:r>
                    </a:p>
                  </a:txBody>
                  <a:tcPr marL="35923" marR="35923" marT="0" marB="0">
                    <a:noFill/>
                  </a:tcPr>
                </a:tc>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PBS1</a:t>
                      </a:r>
                    </a:p>
                  </a:txBody>
                  <a:tcPr marL="35923" marR="35923" marT="0" marB="0">
                    <a:noFill/>
                  </a:tcPr>
                </a:tc>
                <a:tc>
                  <a:txBody>
                    <a:bodyPr/>
                    <a:lstStyle/>
                    <a:p>
                      <a:pPr algn="ctr">
                        <a:lnSpc>
                          <a:spcPct val="115000"/>
                        </a:lnSpc>
                        <a:spcAft>
                          <a:spcPts val="800"/>
                        </a:spcAft>
                      </a:pPr>
                      <a:r>
                        <a:rPr lang="en-IN" sz="1800" u="sng" kern="100">
                          <a:effectLst/>
                          <a:latin typeface="Times New Roman" panose="02020603050405020304" pitchFamily="18" charset="0"/>
                          <a:cs typeface="Times New Roman" panose="02020603050405020304" pitchFamily="18" charset="0"/>
                          <a:hlinkClick r:id="rId11"/>
                        </a:rPr>
                        <a:t>Link</a:t>
                      </a:r>
                      <a:endParaRPr lang="en-IN" sz="1800" kern="10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983274830"/>
                  </a:ext>
                </a:extLst>
              </a:tr>
              <a:tr h="308561">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RELAY MODULE    </a:t>
                      </a:r>
                      <a:endParaRPr lang="en-IN" sz="1800" b="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SK90-S-DC5V-1C    </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u="sng" kern="100" dirty="0">
                          <a:effectLst/>
                          <a:latin typeface="Times New Roman" panose="02020603050405020304" pitchFamily="18" charset="0"/>
                          <a:cs typeface="Times New Roman" panose="02020603050405020304" pitchFamily="18" charset="0"/>
                          <a:hlinkClick r:id="rId12"/>
                        </a:rPr>
                        <a:t>Link</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2718219924"/>
                  </a:ext>
                </a:extLst>
              </a:tr>
              <a:tr h="1087459">
                <a:tc>
                  <a:txBody>
                    <a:bodyPr/>
                    <a:lstStyle/>
                    <a:p>
                      <a:pPr algn="ctr">
                        <a:lnSpc>
                          <a:spcPct val="115000"/>
                        </a:lnSpc>
                        <a:spcAft>
                          <a:spcPts val="800"/>
                        </a:spcAft>
                      </a:pPr>
                      <a:r>
                        <a:rPr lang="en-IN" sz="1800" b="0" kern="100" dirty="0">
                          <a:effectLst/>
                          <a:latin typeface="Times New Roman" panose="02020603050405020304" pitchFamily="18" charset="0"/>
                          <a:cs typeface="Times New Roman" panose="02020603050405020304" pitchFamily="18" charset="0"/>
                        </a:rPr>
                        <a:t>AC to DC SMPS Module </a:t>
                      </a:r>
                      <a:endParaRPr lang="en-IN" sz="1800" b="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tc>
                  <a:txBody>
                    <a:bodyPr/>
                    <a:lstStyle/>
                    <a:p>
                      <a:pPr algn="ctr">
                        <a:lnSpc>
                          <a:spcPct val="115000"/>
                        </a:lnSpc>
                        <a:spcAft>
                          <a:spcPts val="800"/>
                        </a:spcAft>
                      </a:pPr>
                      <a:r>
                        <a:rPr lang="en-IN" sz="1800" kern="100" dirty="0">
                          <a:effectLst/>
                          <a:latin typeface="Times New Roman" panose="02020603050405020304" pitchFamily="18" charset="0"/>
                          <a:cs typeface="Times New Roman" panose="02020603050405020304" pitchFamily="18" charset="0"/>
                        </a:rPr>
                        <a:t>HLK-20M05</a:t>
                      </a:r>
                    </a:p>
                  </a:txBody>
                  <a:tcPr marL="35923" marR="35923" marT="0" marB="0">
                    <a:noFill/>
                  </a:tcPr>
                </a:tc>
                <a:tc>
                  <a:txBody>
                    <a:bodyPr/>
                    <a:lstStyle/>
                    <a:p>
                      <a:pPr algn="ctr">
                        <a:lnSpc>
                          <a:spcPct val="115000"/>
                        </a:lnSpc>
                        <a:spcAft>
                          <a:spcPts val="800"/>
                        </a:spcAft>
                      </a:pPr>
                      <a:r>
                        <a:rPr lang="en-IN" sz="1800" u="sng" kern="100" dirty="0">
                          <a:effectLst/>
                          <a:latin typeface="Times New Roman" panose="02020603050405020304" pitchFamily="18" charset="0"/>
                          <a:cs typeface="Times New Roman" panose="02020603050405020304" pitchFamily="18" charset="0"/>
                          <a:hlinkClick r:id="rId13"/>
                        </a:rPr>
                        <a:t>Link</a:t>
                      </a:r>
                      <a:endParaRPr lang="en-IN" sz="1800" kern="100" dirty="0">
                        <a:effectLst/>
                        <a:latin typeface="Times New Roman" panose="02020603050405020304" pitchFamily="18" charset="0"/>
                        <a:ea typeface="Aptos"/>
                        <a:cs typeface="Times New Roman" panose="02020603050405020304" pitchFamily="18" charset="0"/>
                      </a:endParaRPr>
                    </a:p>
                  </a:txBody>
                  <a:tcPr marL="35923" marR="35923" marT="0" marB="0">
                    <a:noFill/>
                  </a:tcPr>
                </a:tc>
                <a:extLst>
                  <a:ext uri="{0D108BD9-81ED-4DB2-BD59-A6C34878D82A}">
                    <a16:rowId xmlns:a16="http://schemas.microsoft.com/office/drawing/2014/main" val="973262730"/>
                  </a:ext>
                </a:extLst>
              </a:tr>
            </a:tbl>
          </a:graphicData>
        </a:graphic>
      </p:graphicFrame>
      <p:sp>
        <p:nvSpPr>
          <p:cNvPr id="7" name="TextBox 6">
            <a:extLst>
              <a:ext uri="{FF2B5EF4-FFF2-40B4-BE49-F238E27FC236}">
                <a16:creationId xmlns:a16="http://schemas.microsoft.com/office/drawing/2014/main" id="{8BA94759-DEF8-4E4F-9EA8-FE08B086F621}"/>
              </a:ext>
            </a:extLst>
          </p:cNvPr>
          <p:cNvSpPr txBox="1"/>
          <p:nvPr/>
        </p:nvSpPr>
        <p:spPr>
          <a:xfrm flipH="1">
            <a:off x="598167" y="228600"/>
            <a:ext cx="4516757" cy="553998"/>
          </a:xfrm>
          <a:prstGeom prst="rect">
            <a:avLst/>
          </a:prstGeom>
          <a:noFill/>
        </p:spPr>
        <p:txBody>
          <a:bodyPr wrap="square" rtlCol="0">
            <a:spAutoFit/>
          </a:bodyPr>
          <a:lstStyle/>
          <a:p>
            <a:r>
              <a:rPr lang="en-IN" sz="3000" b="1" dirty="0">
                <a:latin typeface="Times New Roman" panose="02020603050405020304" pitchFamily="18" charset="0"/>
                <a:cs typeface="Times New Roman" panose="02020603050405020304" pitchFamily="18" charset="0"/>
              </a:rPr>
              <a:t>Selected Components:</a:t>
            </a:r>
          </a:p>
        </p:txBody>
      </p:sp>
    </p:spTree>
    <p:extLst>
      <p:ext uri="{BB962C8B-B14F-4D97-AF65-F5344CB8AC3E}">
        <p14:creationId xmlns:p14="http://schemas.microsoft.com/office/powerpoint/2010/main" val="4263299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body" idx="1"/>
          </p:nvPr>
        </p:nvSpPr>
        <p:spPr>
          <a:xfrm>
            <a:off x="581024" y="619124"/>
            <a:ext cx="7981951" cy="4238625"/>
          </a:xfrm>
          <a:prstGeom prst="rect">
            <a:avLst/>
          </a:prstGeom>
          <a:noFill/>
          <a:ln>
            <a:noFill/>
          </a:ln>
        </p:spPr>
        <p:txBody>
          <a:bodyPr spcFirstLastPara="1" wrap="square" lIns="91425" tIns="45700" rIns="91425" bIns="45700" anchor="t" anchorCtr="0">
            <a:noAutofit/>
          </a:bodyPr>
          <a:lstStyle/>
          <a:p>
            <a:pPr marL="114300" indent="0">
              <a:buNone/>
            </a:pPr>
            <a:r>
              <a:rPr lang="en-US" sz="3000" b="1" dirty="0">
                <a:solidFill>
                  <a:srgbClr val="000000"/>
                </a:solidFill>
                <a:effectLst/>
                <a:latin typeface="Times New Roman" panose="02020603050405020304" pitchFamily="18" charset="0"/>
                <a:cs typeface="Times New Roman" panose="02020603050405020304" pitchFamily="18" charset="0"/>
              </a:rPr>
              <a:t>Features: </a:t>
            </a:r>
            <a:endParaRPr lang="en-US" sz="3000" b="1" dirty="0">
              <a:latin typeface="Times New Roman" panose="02020603050405020304" pitchFamily="18" charset="0"/>
              <a:cs typeface="Times New Roman" panose="02020603050405020304" pitchFamily="18" charset="0"/>
            </a:endParaRPr>
          </a:p>
          <a:p>
            <a:r>
              <a:rPr lang="en-US" sz="2000" dirty="0">
                <a:solidFill>
                  <a:srgbClr val="000000"/>
                </a:solidFill>
                <a:effectLst/>
                <a:latin typeface="Times New Roman" panose="02020603050405020304" pitchFamily="18" charset="0"/>
                <a:cs typeface="Times New Roman" panose="02020603050405020304" pitchFamily="18" charset="0"/>
              </a:rPr>
              <a:t>Prepaid Billing System</a:t>
            </a:r>
            <a:endParaRPr lang="en-US" sz="2000" dirty="0">
              <a:latin typeface="Times New Roman" panose="02020603050405020304" pitchFamily="18" charset="0"/>
              <a:cs typeface="Times New Roman" panose="02020603050405020304" pitchFamily="18" charset="0"/>
            </a:endParaRPr>
          </a:p>
          <a:p>
            <a:r>
              <a:rPr lang="en-US" sz="2000" dirty="0">
                <a:solidFill>
                  <a:srgbClr val="000000"/>
                </a:solidFill>
                <a:effectLst/>
                <a:latin typeface="Times New Roman" panose="02020603050405020304" pitchFamily="18" charset="0"/>
                <a:cs typeface="Times New Roman" panose="02020603050405020304" pitchFamily="18" charset="0"/>
              </a:rPr>
              <a:t>Low Funds Notification</a:t>
            </a:r>
            <a:endParaRPr lang="en-US" sz="2000" dirty="0">
              <a:latin typeface="Times New Roman" panose="02020603050405020304" pitchFamily="18" charset="0"/>
              <a:cs typeface="Times New Roman" panose="02020603050405020304" pitchFamily="18" charset="0"/>
            </a:endParaRPr>
          </a:p>
          <a:p>
            <a:r>
              <a:rPr lang="en-US" sz="2000" dirty="0">
                <a:solidFill>
                  <a:srgbClr val="000000"/>
                </a:solidFill>
                <a:effectLst/>
                <a:latin typeface="Times New Roman" panose="02020603050405020304" pitchFamily="18" charset="0"/>
                <a:cs typeface="Times New Roman" panose="02020603050405020304" pitchFamily="18" charset="0"/>
              </a:rPr>
              <a:t>Auto Electricity Disconnection</a:t>
            </a:r>
            <a:endParaRPr lang="en-US" sz="2000" dirty="0">
              <a:latin typeface="Times New Roman" panose="02020603050405020304" pitchFamily="18" charset="0"/>
              <a:cs typeface="Times New Roman" panose="02020603050405020304" pitchFamily="18" charset="0"/>
            </a:endParaRPr>
          </a:p>
          <a:p>
            <a:r>
              <a:rPr lang="en-US" sz="2000" dirty="0">
                <a:solidFill>
                  <a:srgbClr val="000000"/>
                </a:solidFill>
                <a:effectLst/>
                <a:latin typeface="Times New Roman" panose="02020603050405020304" pitchFamily="18" charset="0"/>
                <a:cs typeface="Times New Roman" panose="02020603050405020304" pitchFamily="18" charset="0"/>
              </a:rPr>
              <a:t>Time-of-Day (TOD) </a:t>
            </a:r>
            <a:r>
              <a:rPr lang="en-US" sz="2000" dirty="0">
                <a:solidFill>
                  <a:srgbClr val="000000"/>
                </a:solidFill>
                <a:latin typeface="Times New Roman" panose="02020603050405020304" pitchFamily="18" charset="0"/>
                <a:cs typeface="Times New Roman" panose="02020603050405020304" pitchFamily="18" charset="0"/>
              </a:rPr>
              <a:t>Notification</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r>
              <a:rPr lang="en-US" sz="2000" dirty="0">
                <a:solidFill>
                  <a:srgbClr val="000000"/>
                </a:solidFill>
                <a:effectLst/>
                <a:latin typeface="Times New Roman" panose="02020603050405020304" pitchFamily="18" charset="0"/>
                <a:cs typeface="Times New Roman" panose="02020603050405020304" pitchFamily="18" charset="0"/>
              </a:rPr>
              <a:t>Slotted Hours </a:t>
            </a:r>
            <a:r>
              <a:rPr lang="en-US" sz="2000" dirty="0">
                <a:solidFill>
                  <a:srgbClr val="000000"/>
                </a:solidFill>
                <a:latin typeface="Times New Roman" panose="02020603050405020304" pitchFamily="18" charset="0"/>
                <a:cs typeface="Times New Roman" panose="02020603050405020304" pitchFamily="18" charset="0"/>
              </a:rPr>
              <a:t>C</a:t>
            </a:r>
            <a:r>
              <a:rPr lang="en-US" sz="2000" dirty="0">
                <a:solidFill>
                  <a:srgbClr val="000000"/>
                </a:solidFill>
                <a:effectLst/>
                <a:latin typeface="Times New Roman" panose="02020603050405020304" pitchFamily="18" charset="0"/>
                <a:cs typeface="Times New Roman" panose="02020603050405020304" pitchFamily="18" charset="0"/>
              </a:rPr>
              <a:t>onsumption Data</a:t>
            </a:r>
            <a:endParaRPr lang="en-US" sz="2000" dirty="0">
              <a:latin typeface="Times New Roman" panose="02020603050405020304" pitchFamily="18" charset="0"/>
              <a:cs typeface="Times New Roman" panose="02020603050405020304" pitchFamily="18" charset="0"/>
            </a:endParaRPr>
          </a:p>
          <a:p>
            <a:r>
              <a:rPr lang="en-US" sz="2000" dirty="0">
                <a:solidFill>
                  <a:srgbClr val="000000"/>
                </a:solidFill>
                <a:effectLst/>
                <a:latin typeface="Times New Roman" panose="02020603050405020304" pitchFamily="18" charset="0"/>
                <a:cs typeface="Times New Roman" panose="02020603050405020304" pitchFamily="18" charset="0"/>
              </a:rPr>
              <a:t>Power Information Display</a:t>
            </a:r>
            <a:endParaRPr lang="en-US" sz="2000" dirty="0">
              <a:latin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cs typeface="Times New Roman" panose="02020603050405020304" pitchFamily="18" charset="0"/>
              </a:rPr>
              <a:t>Tamper</a:t>
            </a:r>
            <a:r>
              <a:rPr lang="en-US" sz="2000" dirty="0">
                <a:solidFill>
                  <a:srgbClr val="000000"/>
                </a:solidFill>
                <a:effectLst/>
                <a:latin typeface="Times New Roman" panose="02020603050405020304" pitchFamily="18" charset="0"/>
                <a:cs typeface="Times New Roman" panose="02020603050405020304" pitchFamily="18" charset="0"/>
              </a:rPr>
              <a:t> Alert System</a:t>
            </a:r>
          </a:p>
          <a:p>
            <a:pPr marL="114300" indent="0">
              <a:buNone/>
            </a:pPr>
            <a:endParaRPr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4499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261C24-3146-F553-9290-6588B7B06A25}"/>
              </a:ext>
            </a:extLst>
          </p:cNvPr>
          <p:cNvSpPr txBox="1"/>
          <p:nvPr/>
        </p:nvSpPr>
        <p:spPr>
          <a:xfrm>
            <a:off x="647700" y="939012"/>
            <a:ext cx="5334000"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Software Design :</a:t>
            </a:r>
          </a:p>
        </p:txBody>
      </p:sp>
      <p:sp>
        <p:nvSpPr>
          <p:cNvPr id="4" name="TextBox 3">
            <a:extLst>
              <a:ext uri="{FF2B5EF4-FFF2-40B4-BE49-F238E27FC236}">
                <a16:creationId xmlns:a16="http://schemas.microsoft.com/office/drawing/2014/main" id="{808FDD66-5612-23FA-BB9D-B1D14F7BC2D1}"/>
              </a:ext>
            </a:extLst>
          </p:cNvPr>
          <p:cNvSpPr txBox="1"/>
          <p:nvPr/>
        </p:nvSpPr>
        <p:spPr>
          <a:xfrm>
            <a:off x="542925" y="1231399"/>
            <a:ext cx="6934200" cy="4878259"/>
          </a:xfrm>
          <a:prstGeom prst="rect">
            <a:avLst/>
          </a:prstGeom>
          <a:noFill/>
        </p:spPr>
        <p:txBody>
          <a:bodyPr wrap="square" rtlCol="0">
            <a:spAutoFit/>
          </a:bodyPr>
          <a:lstStyle/>
          <a:p>
            <a:endParaRPr lang="en-US" sz="3000" dirty="0">
              <a:latin typeface="Times New Roman" panose="02020603050405020304" pitchFamily="18" charset="0"/>
              <a:cs typeface="Times New Roman" panose="02020603050405020304" pitchFamily="18" charset="0"/>
            </a:endParaRPr>
          </a:p>
          <a:p>
            <a:pPr marL="228600" indent="-228600">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Front End </a:t>
            </a:r>
            <a:r>
              <a:rPr lang="en-US"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sym typeface="Wingdings" panose="05000000000000000000" pitchFamily="2" charset="2"/>
              </a:rPr>
              <a:t>(HTML, CSS, JS,  ReactJS)</a:t>
            </a:r>
            <a:endParaRPr lang="en-US" sz="2000" dirty="0">
              <a:latin typeface="Times New Roman" panose="02020603050405020304" pitchFamily="18" charset="0"/>
              <a:cs typeface="Times New Roman" panose="02020603050405020304" pitchFamily="18" charset="0"/>
            </a:endParaRPr>
          </a:p>
          <a:p>
            <a:r>
              <a:rPr lang="en-US" sz="1200" dirty="0"/>
              <a:t>                </a:t>
            </a:r>
            <a:r>
              <a:rPr lang="en-US" sz="2500" dirty="0">
                <a:latin typeface="Times New Roman" panose="02020603050405020304" pitchFamily="18" charset="0"/>
                <a:cs typeface="Times New Roman" panose="02020603050405020304" pitchFamily="18" charset="0"/>
              </a:rPr>
              <a:t>User dashboard .</a:t>
            </a:r>
          </a:p>
          <a:p>
            <a:r>
              <a:rPr lang="en-US" sz="2500" dirty="0">
                <a:latin typeface="Times New Roman" panose="02020603050405020304" pitchFamily="18" charset="0"/>
                <a:cs typeface="Times New Roman" panose="02020603050405020304" pitchFamily="18" charset="0"/>
              </a:rPr>
              <a:t>        Admin dashboard .</a:t>
            </a:r>
          </a:p>
          <a:p>
            <a:r>
              <a:rPr lang="en-US" sz="2500" dirty="0">
                <a:latin typeface="Times New Roman" panose="02020603050405020304" pitchFamily="18" charset="0"/>
                <a:cs typeface="Times New Roman" panose="02020603050405020304" pitchFamily="18" charset="0"/>
              </a:rPr>
              <a:t>        Alert and notifications .</a:t>
            </a:r>
          </a:p>
          <a:p>
            <a:pPr marL="228600" indent="-228600">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Backend </a:t>
            </a:r>
            <a:r>
              <a:rPr lang="en-US" sz="2000" dirty="0">
                <a:latin typeface="Times New Roman" panose="02020603050405020304" pitchFamily="18" charset="0"/>
                <a:cs typeface="Times New Roman" panose="02020603050405020304" pitchFamily="18" charset="0"/>
                <a:sym typeface="Wingdings" panose="05000000000000000000" pitchFamily="2" charset="2"/>
              </a:rPr>
              <a:t>:(JS, NodeJS)</a:t>
            </a:r>
            <a:endParaRPr lang="en-US" sz="2000" dirty="0">
              <a:latin typeface="Times New Roman" panose="02020603050405020304" pitchFamily="18" charset="0"/>
              <a:cs typeface="Times New Roman" panose="02020603050405020304" pitchFamily="18" charset="0"/>
            </a:endParaRPr>
          </a:p>
          <a:p>
            <a:r>
              <a:rPr lang="en-US" sz="1200" dirty="0"/>
              <a:t>               </a:t>
            </a:r>
            <a:r>
              <a:rPr lang="en-US" sz="2500" dirty="0">
                <a:latin typeface="Times New Roman" panose="02020603050405020304" pitchFamily="18" charset="0"/>
                <a:cs typeface="Times New Roman" panose="02020603050405020304" pitchFamily="18" charset="0"/>
              </a:rPr>
              <a:t>API service.</a:t>
            </a:r>
          </a:p>
          <a:p>
            <a:r>
              <a:rPr lang="en-US" sz="2500" dirty="0">
                <a:latin typeface="Times New Roman" panose="02020603050405020304" pitchFamily="18" charset="0"/>
                <a:cs typeface="Times New Roman" panose="02020603050405020304" pitchFamily="18" charset="0"/>
              </a:rPr>
              <a:t>        Authentication and Authorization.</a:t>
            </a:r>
          </a:p>
          <a:p>
            <a:pPr marL="228600" indent="-228600">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Database</a:t>
            </a:r>
            <a:r>
              <a:rPr lang="en-US" sz="2000" dirty="0">
                <a:latin typeface="Times New Roman" panose="02020603050405020304" pitchFamily="18" charset="0"/>
                <a:cs typeface="Times New Roman" panose="02020603050405020304" pitchFamily="18" charset="0"/>
              </a:rPr>
              <a:t>:(SQL)</a:t>
            </a:r>
          </a:p>
          <a:p>
            <a:r>
              <a:rPr lang="en-US" sz="700" dirty="0"/>
              <a:t>                       </a:t>
            </a:r>
            <a:r>
              <a:rPr lang="en-US" sz="2500" dirty="0">
                <a:latin typeface="Times New Roman" panose="02020603050405020304" pitchFamily="18" charset="0"/>
                <a:cs typeface="Times New Roman" panose="02020603050405020304" pitchFamily="18" charset="0"/>
              </a:rPr>
              <a:t>Data Storage .</a:t>
            </a:r>
          </a:p>
          <a:p>
            <a:r>
              <a:rPr lang="en-US" sz="2500" dirty="0">
                <a:latin typeface="Times New Roman" panose="02020603050405020304" pitchFamily="18" charset="0"/>
                <a:cs typeface="Times New Roman" panose="02020603050405020304" pitchFamily="18" charset="0"/>
              </a:rPr>
              <a:t>       Data management.       </a:t>
            </a:r>
          </a:p>
          <a:p>
            <a:r>
              <a:rPr lang="en-US" sz="2500" dirty="0">
                <a:latin typeface="Times New Roman" panose="02020603050405020304" pitchFamily="18" charset="0"/>
                <a:cs typeface="Times New Roman" panose="02020603050405020304" pitchFamily="18" charset="0"/>
              </a:rPr>
              <a:t>       </a:t>
            </a:r>
          </a:p>
        </p:txBody>
      </p:sp>
      <p:pic>
        <p:nvPicPr>
          <p:cNvPr id="4098" name="Picture 2" descr="Frontend vs. Backend vs. Full-Stack - The Difference Explained">
            <a:extLst>
              <a:ext uri="{FF2B5EF4-FFF2-40B4-BE49-F238E27FC236}">
                <a16:creationId xmlns:a16="http://schemas.microsoft.com/office/drawing/2014/main" id="{99FFC731-E227-24E6-53C2-F03C7A8445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068" b="6054"/>
          <a:stretch/>
        </p:blipFill>
        <p:spPr bwMode="auto">
          <a:xfrm>
            <a:off x="4505325" y="2171700"/>
            <a:ext cx="4591050" cy="1874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7353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body" idx="1"/>
          </p:nvPr>
        </p:nvSpPr>
        <p:spPr>
          <a:xfrm>
            <a:off x="419100" y="504825"/>
            <a:ext cx="8267700" cy="562133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None/>
            </a:pPr>
            <a:r>
              <a:rPr lang="en-US" sz="3200" b="0" i="0" u="none" dirty="0">
                <a:solidFill>
                  <a:schemeClr val="dk1"/>
                </a:solidFill>
                <a:latin typeface="Times New Roman"/>
                <a:ea typeface="Times New Roman"/>
                <a:cs typeface="Times New Roman"/>
                <a:sym typeface="Times New Roman"/>
              </a:rPr>
              <a:t>References &amp; </a:t>
            </a:r>
            <a:r>
              <a:rPr lang="en-US" sz="3200" b="0" i="0" u="none" dirty="0" err="1">
                <a:solidFill>
                  <a:schemeClr val="dk1"/>
                </a:solidFill>
                <a:latin typeface="Times New Roman"/>
                <a:ea typeface="Times New Roman"/>
                <a:cs typeface="Times New Roman"/>
                <a:sym typeface="Times New Roman"/>
              </a:rPr>
              <a:t>Bibiliography</a:t>
            </a:r>
            <a:endParaRPr sz="3200" b="0" i="0" u="none" dirty="0">
              <a:solidFill>
                <a:schemeClr val="dk1"/>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3200"/>
              <a:buFont typeface="Arial"/>
              <a:buNone/>
            </a:pPr>
            <a:br>
              <a:rPr lang="en-IN" dirty="0">
                <a:latin typeface="Times New Roman"/>
                <a:ea typeface="Times New Roman"/>
                <a:cs typeface="Times New Roman"/>
                <a:sym typeface="Times New Roman"/>
              </a:rPr>
            </a:br>
            <a:r>
              <a:rPr lang="en-IN" sz="1500" dirty="0">
                <a:latin typeface="Times New Roman"/>
                <a:ea typeface="Times New Roman"/>
                <a:cs typeface="Times New Roman"/>
                <a:sym typeface="Times New Roman"/>
              </a:rPr>
              <a:t>[1] N. Sushma, H. N. Suresh, J. Mohana Lakshmi, P. Naga </a:t>
            </a:r>
            <a:r>
              <a:rPr lang="en-IN" sz="1500" dirty="0" err="1">
                <a:latin typeface="Times New Roman"/>
                <a:ea typeface="Times New Roman"/>
                <a:cs typeface="Times New Roman"/>
                <a:sym typeface="Times New Roman"/>
              </a:rPr>
              <a:t>Srinivasu</a:t>
            </a:r>
            <a:r>
              <a:rPr lang="en-IN" sz="1500" dirty="0">
                <a:latin typeface="Times New Roman"/>
                <a:ea typeface="Times New Roman"/>
                <a:cs typeface="Times New Roman"/>
                <a:sym typeface="Times New Roman"/>
              </a:rPr>
              <a:t>, A. Kumar </a:t>
            </a:r>
            <a:r>
              <a:rPr lang="en-IN" sz="1500" dirty="0" err="1">
                <a:latin typeface="Times New Roman"/>
                <a:ea typeface="Times New Roman"/>
                <a:cs typeface="Times New Roman"/>
                <a:sym typeface="Times New Roman"/>
              </a:rPr>
              <a:t>Bhoi</a:t>
            </a:r>
            <a:r>
              <a:rPr lang="en-IN" sz="1500" dirty="0">
                <a:latin typeface="Times New Roman"/>
                <a:ea typeface="Times New Roman"/>
                <a:cs typeface="Times New Roman"/>
                <a:sym typeface="Times New Roman"/>
              </a:rPr>
              <a:t>, and P. </a:t>
            </a:r>
            <a:r>
              <a:rPr lang="en-IN" sz="1500" dirty="0" err="1">
                <a:latin typeface="Times New Roman"/>
                <a:ea typeface="Times New Roman"/>
                <a:cs typeface="Times New Roman"/>
                <a:sym typeface="Times New Roman"/>
              </a:rPr>
              <a:t>Barsocchi</a:t>
            </a:r>
            <a:r>
              <a:rPr lang="en-IN" sz="1500" dirty="0">
                <a:latin typeface="Times New Roman"/>
                <a:ea typeface="Times New Roman"/>
                <a:cs typeface="Times New Roman"/>
                <a:sym typeface="Times New Roman"/>
              </a:rPr>
              <a:t>, "A Unified Metering System Deployed for Water and Energy Monitoring in Smart City," *IEEE Access*, vol. XX, pp. 1-12, July 2023. DOI: 10.1109/ACCESS.2023.3299825.</a:t>
            </a:r>
          </a:p>
          <a:p>
            <a:pPr marL="342900" marR="0" lvl="0" indent="-342900" algn="l" rtl="0">
              <a:lnSpc>
                <a:spcPct val="100000"/>
              </a:lnSpc>
              <a:spcBef>
                <a:spcPts val="0"/>
              </a:spcBef>
              <a:spcAft>
                <a:spcPts val="0"/>
              </a:spcAft>
              <a:buClr>
                <a:schemeClr val="dk1"/>
              </a:buClr>
              <a:buSzPts val="3200"/>
              <a:buFont typeface="Arial"/>
              <a:buNone/>
            </a:pPr>
            <a:endParaRPr lang="en-IN" sz="1500" dirty="0">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3200"/>
              <a:buFont typeface="Arial"/>
              <a:buNone/>
            </a:pPr>
            <a:r>
              <a:rPr lang="en-IN" sz="1500" dirty="0">
                <a:latin typeface="Times New Roman"/>
                <a:ea typeface="Times New Roman"/>
                <a:cs typeface="Times New Roman"/>
                <a:sym typeface="Times New Roman"/>
              </a:rPr>
              <a:t>        [2] S. V. </a:t>
            </a:r>
            <a:r>
              <a:rPr lang="en-IN" sz="1500" dirty="0" err="1">
                <a:latin typeface="Times New Roman"/>
                <a:ea typeface="Times New Roman"/>
                <a:cs typeface="Times New Roman"/>
                <a:sym typeface="Times New Roman"/>
              </a:rPr>
              <a:t>Sreedevi</a:t>
            </a:r>
            <a:r>
              <a:rPr lang="en-IN" sz="1500" dirty="0">
                <a:latin typeface="Times New Roman"/>
                <a:ea typeface="Times New Roman"/>
                <a:cs typeface="Times New Roman"/>
                <a:sym typeface="Times New Roman"/>
              </a:rPr>
              <a:t>, P. </a:t>
            </a:r>
            <a:r>
              <a:rPr lang="en-IN" sz="1500" dirty="0" err="1">
                <a:latin typeface="Times New Roman"/>
                <a:ea typeface="Times New Roman"/>
                <a:cs typeface="Times New Roman"/>
                <a:sym typeface="Times New Roman"/>
              </a:rPr>
              <a:t>Prasannan</a:t>
            </a:r>
            <a:r>
              <a:rPr lang="en-IN" sz="1500" dirty="0">
                <a:latin typeface="Times New Roman"/>
                <a:ea typeface="Times New Roman"/>
                <a:cs typeface="Times New Roman"/>
                <a:sym typeface="Times New Roman"/>
              </a:rPr>
              <a:t>, J. K, and I. L. J I, "Development of Indigenous Smart Energy Meter adhering to Indian Standards for Smart Grid," in *2020 IEEE International Conference on Power Electronics, Smart Grid and Renewable Energy (PESGRE2020)*, Thiruvananthapuram, India, 2020.</a:t>
            </a:r>
          </a:p>
          <a:p>
            <a:pPr marL="342900" marR="0" lvl="0" indent="-342900" algn="l" rtl="0">
              <a:lnSpc>
                <a:spcPct val="100000"/>
              </a:lnSpc>
              <a:spcBef>
                <a:spcPts val="0"/>
              </a:spcBef>
              <a:spcAft>
                <a:spcPts val="0"/>
              </a:spcAft>
              <a:buClr>
                <a:schemeClr val="dk1"/>
              </a:buClr>
              <a:buSzPts val="3200"/>
              <a:buFont typeface="Arial"/>
              <a:buNone/>
            </a:pPr>
            <a:endParaRPr lang="en-IN" sz="1500" dirty="0">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3200"/>
              <a:buFont typeface="Arial"/>
              <a:buNone/>
            </a:pPr>
            <a:r>
              <a:rPr lang="en-IN" sz="1500" dirty="0">
                <a:latin typeface="Times New Roman"/>
                <a:ea typeface="Times New Roman"/>
                <a:cs typeface="Times New Roman"/>
                <a:sym typeface="Times New Roman"/>
              </a:rPr>
              <a:t>        [3] A. Babu, H. KJ, N. S, V. S. Pillai, R. K.P., and S. Sreekumar, "Home energy management system in Kerala by using advanced metering infrastructure," in *2024 Second International Conference on Smart Technologies for Power and Renewable Energy (</a:t>
            </a:r>
            <a:r>
              <a:rPr lang="en-IN" sz="1500" dirty="0" err="1">
                <a:latin typeface="Times New Roman"/>
                <a:ea typeface="Times New Roman"/>
                <a:cs typeface="Times New Roman"/>
                <a:sym typeface="Times New Roman"/>
              </a:rPr>
              <a:t>SPECon</a:t>
            </a:r>
            <a:r>
              <a:rPr lang="en-IN" sz="1500" dirty="0">
                <a:latin typeface="Times New Roman"/>
                <a:ea typeface="Times New Roman"/>
                <a:cs typeface="Times New Roman"/>
                <a:sym typeface="Times New Roman"/>
              </a:rPr>
              <a:t>)*, 2024. DOI: 10.1109/SPECon61254.2024.10537578.</a:t>
            </a:r>
          </a:p>
          <a:p>
            <a:pPr marL="342900" marR="0" lvl="0" indent="-342900" algn="l" rtl="0">
              <a:lnSpc>
                <a:spcPct val="100000"/>
              </a:lnSpc>
              <a:spcBef>
                <a:spcPts val="0"/>
              </a:spcBef>
              <a:spcAft>
                <a:spcPts val="0"/>
              </a:spcAft>
              <a:buClr>
                <a:schemeClr val="dk1"/>
              </a:buClr>
              <a:buSzPts val="3200"/>
              <a:buFont typeface="Arial"/>
              <a:buNone/>
            </a:pPr>
            <a:endParaRPr lang="en-IN" sz="1500" dirty="0">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3200"/>
              <a:buFont typeface="Arial"/>
              <a:buNone/>
            </a:pPr>
            <a:r>
              <a:rPr lang="en-IN" sz="1500" dirty="0">
                <a:latin typeface="Times New Roman"/>
                <a:ea typeface="Times New Roman"/>
                <a:cs typeface="Times New Roman"/>
                <a:sym typeface="Times New Roman"/>
              </a:rPr>
              <a:t>       [4] M. U. Saleem, M. R. Usman, and M. Shakir, "Design, Implementation, and Deployment of an IoT Based Smart Energy Management System," *IEEE Access*, vol. XX, pp. 1-12, April 2021. DOI: 10.1109/ACCESS.2021.3070960.</a:t>
            </a:r>
          </a:p>
          <a:p>
            <a:pPr marL="342900" marR="0" lvl="0" indent="-342900" algn="l" rtl="0">
              <a:lnSpc>
                <a:spcPct val="100000"/>
              </a:lnSpc>
              <a:spcBef>
                <a:spcPts val="0"/>
              </a:spcBef>
              <a:spcAft>
                <a:spcPts val="0"/>
              </a:spcAft>
              <a:buClr>
                <a:schemeClr val="dk1"/>
              </a:buClr>
              <a:buSzPts val="3200"/>
              <a:buFont typeface="Arial"/>
              <a:buNone/>
            </a:pPr>
            <a:endParaRPr lang="en-IN" sz="1500" dirty="0">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chemeClr val="dk1"/>
              </a:buClr>
              <a:buSzPts val="3200"/>
              <a:buFont typeface="Arial"/>
              <a:buNone/>
            </a:pPr>
            <a:r>
              <a:rPr lang="en-IN" sz="1500" dirty="0">
                <a:latin typeface="Times New Roman"/>
                <a:ea typeface="Times New Roman"/>
                <a:cs typeface="Times New Roman"/>
                <a:sym typeface="Times New Roman"/>
              </a:rPr>
              <a:t>       [5] S. Kumar, K. </a:t>
            </a:r>
            <a:r>
              <a:rPr lang="en-IN" sz="1500" dirty="0" err="1">
                <a:latin typeface="Times New Roman"/>
                <a:ea typeface="Times New Roman"/>
                <a:cs typeface="Times New Roman"/>
                <a:sym typeface="Times New Roman"/>
              </a:rPr>
              <a:t>Suneetha</a:t>
            </a:r>
            <a:r>
              <a:rPr lang="en-IN" sz="1500" dirty="0">
                <a:latin typeface="Times New Roman"/>
                <a:ea typeface="Times New Roman"/>
                <a:cs typeface="Times New Roman"/>
                <a:sym typeface="Times New Roman"/>
              </a:rPr>
              <a:t>, and A. Gill, "Utilization of IoT and Smart Meters for Energy Management," in *2023 International Conference on Power Energy, Environment &amp; Intelligent Control (PEEIC)*, 2023.</a:t>
            </a:r>
          </a:p>
          <a:p>
            <a:pPr marL="342900" marR="0" lvl="0" indent="-342900" algn="l" rtl="0">
              <a:lnSpc>
                <a:spcPct val="100000"/>
              </a:lnSpc>
              <a:spcBef>
                <a:spcPts val="0"/>
              </a:spcBef>
              <a:spcAft>
                <a:spcPts val="0"/>
              </a:spcAft>
              <a:buClr>
                <a:schemeClr val="dk1"/>
              </a:buClr>
              <a:buSzPts val="3200"/>
              <a:buFont typeface="Arial"/>
              <a:buNone/>
            </a:pPr>
            <a:endParaRPr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4A14F16-2353-4D5C-B722-0568287603D1}"/>
              </a:ext>
            </a:extLst>
          </p:cNvPr>
          <p:cNvSpPr>
            <a:spLocks noGrp="1"/>
          </p:cNvSpPr>
          <p:nvPr>
            <p:ph type="body" idx="1"/>
          </p:nvPr>
        </p:nvSpPr>
        <p:spPr>
          <a:xfrm>
            <a:off x="414337" y="423862"/>
            <a:ext cx="8315325" cy="5214937"/>
          </a:xfrm>
        </p:spPr>
        <p:txBody>
          <a:bodyPr/>
          <a:lstStyle/>
          <a:p>
            <a:r>
              <a:rPr lang="en-IN" sz="1500" dirty="0">
                <a:latin typeface="Times New Roman" panose="02020603050405020304" pitchFamily="18" charset="0"/>
                <a:cs typeface="Times New Roman" panose="02020603050405020304" pitchFamily="18" charset="0"/>
              </a:rPr>
              <a:t>[6] M. J. </a:t>
            </a:r>
            <a:r>
              <a:rPr lang="en-IN" sz="1500" dirty="0" err="1">
                <a:latin typeface="Times New Roman" panose="02020603050405020304" pitchFamily="18" charset="0"/>
                <a:cs typeface="Times New Roman" panose="02020603050405020304" pitchFamily="18" charset="0"/>
              </a:rPr>
              <a:t>Jeffin</a:t>
            </a:r>
            <a:r>
              <a:rPr lang="en-IN" sz="1500" dirty="0">
                <a:latin typeface="Times New Roman" panose="02020603050405020304" pitchFamily="18" charset="0"/>
                <a:cs typeface="Times New Roman" panose="02020603050405020304" pitchFamily="18" charset="0"/>
              </a:rPr>
              <a:t>, M. G. M., A. Rao, G. Singh, and C. </a:t>
            </a:r>
            <a:r>
              <a:rPr lang="en-IN" sz="1500" dirty="0" err="1">
                <a:latin typeface="Times New Roman" panose="02020603050405020304" pitchFamily="18" charset="0"/>
                <a:cs typeface="Times New Roman" panose="02020603050405020304" pitchFamily="18" charset="0"/>
              </a:rPr>
              <a:t>Vyjayanthi</a:t>
            </a:r>
            <a:r>
              <a:rPr lang="en-IN" sz="1500" dirty="0">
                <a:latin typeface="Times New Roman" panose="02020603050405020304" pitchFamily="18" charset="0"/>
                <a:cs typeface="Times New Roman" panose="02020603050405020304" pitchFamily="18" charset="0"/>
              </a:rPr>
              <a:t>, "Internet of Things Enabled Power Theft Detection and Smart Meter Monitoring System," in *International Conference on Communication and Signal Processing*, India, July 2020.</a:t>
            </a:r>
          </a:p>
          <a:p>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[7] H. A. </a:t>
            </a:r>
            <a:r>
              <a:rPr lang="en-IN" sz="1500" dirty="0" err="1">
                <a:latin typeface="Times New Roman" panose="02020603050405020304" pitchFamily="18" charset="0"/>
                <a:cs typeface="Times New Roman" panose="02020603050405020304" pitchFamily="18" charset="0"/>
              </a:rPr>
              <a:t>Hseiki</a:t>
            </a:r>
            <a:r>
              <a:rPr lang="en-IN" sz="1500" dirty="0">
                <a:latin typeface="Times New Roman" panose="02020603050405020304" pitchFamily="18" charset="0"/>
                <a:cs typeface="Times New Roman" panose="02020603050405020304" pitchFamily="18" charset="0"/>
              </a:rPr>
              <a:t>, A. M. El-Hajj, Y. O. </a:t>
            </a:r>
            <a:r>
              <a:rPr lang="en-IN" sz="1500" dirty="0" err="1">
                <a:latin typeface="Times New Roman" panose="02020603050405020304" pitchFamily="18" charset="0"/>
                <a:cs typeface="Times New Roman" panose="02020603050405020304" pitchFamily="18" charset="0"/>
              </a:rPr>
              <a:t>Ajra</a:t>
            </a:r>
            <a:r>
              <a:rPr lang="en-IN" sz="1500" dirty="0">
                <a:latin typeface="Times New Roman" panose="02020603050405020304" pitchFamily="18" charset="0"/>
                <a:cs typeface="Times New Roman" panose="02020603050405020304" pitchFamily="18" charset="0"/>
              </a:rPr>
              <a:t>, F. A. </a:t>
            </a:r>
            <a:r>
              <a:rPr lang="en-IN" sz="1500" dirty="0" err="1">
                <a:latin typeface="Times New Roman" panose="02020603050405020304" pitchFamily="18" charset="0"/>
                <a:cs typeface="Times New Roman" panose="02020603050405020304" pitchFamily="18" charset="0"/>
              </a:rPr>
              <a:t>Hija</a:t>
            </a:r>
            <a:r>
              <a:rPr lang="en-IN" sz="1500" dirty="0">
                <a:latin typeface="Times New Roman" panose="02020603050405020304" pitchFamily="18" charset="0"/>
                <a:cs typeface="Times New Roman" panose="02020603050405020304" pitchFamily="18" charset="0"/>
              </a:rPr>
              <a:t>, and A. M. Haidar, "A Secure and Resilient Smart Energy Meter," *IEEE Access*, vol. XX, pp. 1-12, Jan. 2024. DOI: 10.1109/ACCESS.2023.3349091.</a:t>
            </a:r>
          </a:p>
          <a:p>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[8] P. Kumari, R. Mishra, H. P. Gupta, T. Dutta, and S. K. Das, "An Energy Efficient Smart Metering System Using Edge Computing in LoRa Network," *IEEE Transactions on Sustainable Computing*, vol. 7, no. 4, pp. 1-12, Oct.-Dec. 2022.</a:t>
            </a:r>
          </a:p>
          <a:p>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[9] M. U. Saleem, M. R. Usman, M. A. Usman, and C. </a:t>
            </a:r>
            <a:r>
              <a:rPr lang="en-IN" sz="1500" dirty="0" err="1">
                <a:latin typeface="Times New Roman" panose="02020603050405020304" pitchFamily="18" charset="0"/>
                <a:cs typeface="Times New Roman" panose="02020603050405020304" pitchFamily="18" charset="0"/>
              </a:rPr>
              <a:t>Politis</a:t>
            </a:r>
            <a:r>
              <a:rPr lang="en-IN" sz="1500" dirty="0">
                <a:latin typeface="Times New Roman" panose="02020603050405020304" pitchFamily="18" charset="0"/>
                <a:cs typeface="Times New Roman" panose="02020603050405020304" pitchFamily="18" charset="0"/>
              </a:rPr>
              <a:t>, "Design, Deployment and Performance Evaluation of an IoT Based Smart Energy Management System for Demand Side Management in Smart Grid," *IEEE Access*, vol. XX, pp. 1-12, Jan. 2022. DOI: 10.1109/ACCESS.2022.3147484.</a:t>
            </a:r>
          </a:p>
          <a:p>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[10] F. Liu, C. Liang, and Q. He, "Remote Malfunctional Smart Meter Detection in Edge Computing Environment," *IEEE Access*, vol. XX, pp. 1-12, April 2020. DOI: 10.1109/ACCESS.2020.2985725.</a:t>
            </a:r>
          </a:p>
          <a:p>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[11] M. H. Raza, Y. M. Rind, I. </a:t>
            </a:r>
            <a:r>
              <a:rPr lang="en-IN" sz="1500" dirty="0" err="1">
                <a:latin typeface="Times New Roman" panose="02020603050405020304" pitchFamily="18" charset="0"/>
                <a:cs typeface="Times New Roman" panose="02020603050405020304" pitchFamily="18" charset="0"/>
              </a:rPr>
              <a:t>Javed</a:t>
            </a:r>
            <a:r>
              <a:rPr lang="en-IN" sz="1500" dirty="0">
                <a:latin typeface="Times New Roman" panose="02020603050405020304" pitchFamily="18" charset="0"/>
                <a:cs typeface="Times New Roman" panose="02020603050405020304" pitchFamily="18" charset="0"/>
              </a:rPr>
              <a:t>, M. Zubair, M. Q. Mehmood, and Y. </a:t>
            </a:r>
            <a:r>
              <a:rPr lang="en-IN" sz="1500" dirty="0" err="1">
                <a:latin typeface="Times New Roman" panose="02020603050405020304" pitchFamily="18" charset="0"/>
                <a:cs typeface="Times New Roman" panose="02020603050405020304" pitchFamily="18" charset="0"/>
              </a:rPr>
              <a:t>Massoud</a:t>
            </a:r>
            <a:r>
              <a:rPr lang="en-IN" sz="1500" dirty="0">
                <a:latin typeface="Times New Roman" panose="02020603050405020304" pitchFamily="18" charset="0"/>
                <a:cs typeface="Times New Roman" panose="02020603050405020304" pitchFamily="18" charset="0"/>
              </a:rPr>
              <a:t>, "Smart Meters for Smart Energy: A Review of Business Intelligence Applications," *IEEE Access*, vol. XX, pp. 1-12, Nov. 2023. DOI: 10.1109/ACCESS.2023.3326724.</a:t>
            </a:r>
          </a:p>
          <a:p>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620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CDCC8D-52D9-4ABD-ACE1-C46A68D15ED0}"/>
              </a:ext>
            </a:extLst>
          </p:cNvPr>
          <p:cNvSpPr>
            <a:spLocks noGrp="1"/>
          </p:cNvSpPr>
          <p:nvPr>
            <p:ph type="body" idx="1"/>
          </p:nvPr>
        </p:nvSpPr>
        <p:spPr>
          <a:xfrm>
            <a:off x="228600" y="366713"/>
            <a:ext cx="8458199" cy="5986462"/>
          </a:xfrm>
        </p:spPr>
        <p:txBody>
          <a:bodyPr/>
          <a:lstStyle/>
          <a:p>
            <a:r>
              <a:rPr lang="en-IN" sz="1500" dirty="0">
                <a:latin typeface="Times New Roman" panose="02020603050405020304" pitchFamily="18" charset="0"/>
                <a:cs typeface="Times New Roman" panose="02020603050405020304" pitchFamily="18" charset="0"/>
              </a:rPr>
              <a:t>[12] E. </a:t>
            </a:r>
            <a:r>
              <a:rPr lang="en-IN" sz="1500" dirty="0" err="1">
                <a:latin typeface="Times New Roman" panose="02020603050405020304" pitchFamily="18" charset="0"/>
                <a:cs typeface="Times New Roman" panose="02020603050405020304" pitchFamily="18" charset="0"/>
              </a:rPr>
              <a:t>Sacoto</a:t>
            </a:r>
            <a:r>
              <a:rPr lang="en-IN" sz="1500" dirty="0">
                <a:latin typeface="Times New Roman" panose="02020603050405020304" pitchFamily="18" charset="0"/>
                <a:cs typeface="Times New Roman" panose="02020603050405020304" pitchFamily="18" charset="0"/>
              </a:rPr>
              <a:t>-Cabrera, J. Rodriguez-Bustamante, P. Gallegos-Segovia, G. Arevalo-</a:t>
            </a:r>
            <a:r>
              <a:rPr lang="en-IN" sz="1500" dirty="0" err="1">
                <a:latin typeface="Times New Roman" panose="02020603050405020304" pitchFamily="18" charset="0"/>
                <a:cs typeface="Times New Roman" panose="02020603050405020304" pitchFamily="18" charset="0"/>
              </a:rPr>
              <a:t>Quishpi</a:t>
            </a:r>
            <a:r>
              <a:rPr lang="en-IN" sz="1500" dirty="0">
                <a:latin typeface="Times New Roman" panose="02020603050405020304" pitchFamily="18" charset="0"/>
                <a:cs typeface="Times New Roman" panose="02020603050405020304" pitchFamily="18" charset="0"/>
              </a:rPr>
              <a:t>, and G. León-Paredes, "Internet of Things: Informatic System for Metering with Communications MQTT over GPRS for Smart Meters," in *2017 IEEE International Conference on IoT and Smart Cities*, Cuenca, Ecuador.</a:t>
            </a:r>
          </a:p>
          <a:p>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[13] H. Tan, H. Yao, Y. Huang, H. Wang, Z. Zhao, and Y. Liu, "Error Correction Method for Smart Energy Meter Field Calibration System under Non-standard Conditions," in *2020 IEEE International Conference on Smart Energy Systems and Technologies*, Beijing, China.</a:t>
            </a:r>
          </a:p>
          <a:p>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[14] S. S. Chowdary, M. A. Abd El </a:t>
            </a:r>
            <a:r>
              <a:rPr lang="en-IN" sz="1500" dirty="0" err="1">
                <a:latin typeface="Times New Roman" panose="02020603050405020304" pitchFamily="18" charset="0"/>
                <a:cs typeface="Times New Roman" panose="02020603050405020304" pitchFamily="18" charset="0"/>
              </a:rPr>
              <a:t>Ghany</a:t>
            </a:r>
            <a:r>
              <a:rPr lang="en-IN" sz="1500" dirty="0">
                <a:latin typeface="Times New Roman" panose="02020603050405020304" pitchFamily="18" charset="0"/>
                <a:cs typeface="Times New Roman" panose="02020603050405020304" pitchFamily="18" charset="0"/>
              </a:rPr>
              <a:t>, and K. Hofmann, "IoT based Wireless Energy Efficient Smart Metering System Using ZigBee in Smart Cities," in *2020 International Conference on IoT, Smart Cities, and Smart Technologies*, Darmstadt, Germany and Cairo, Egypt.</a:t>
            </a:r>
          </a:p>
          <a:p>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[15] S. Katre and P. </a:t>
            </a:r>
            <a:r>
              <a:rPr lang="en-IN" sz="1500" dirty="0" err="1">
                <a:latin typeface="Times New Roman" panose="02020603050405020304" pitchFamily="18" charset="0"/>
                <a:cs typeface="Times New Roman" panose="02020603050405020304" pitchFamily="18" charset="0"/>
              </a:rPr>
              <a:t>Ikhar</a:t>
            </a:r>
            <a:r>
              <a:rPr lang="en-IN" sz="1500" dirty="0">
                <a:latin typeface="Times New Roman" panose="02020603050405020304" pitchFamily="18" charset="0"/>
                <a:cs typeface="Times New Roman" panose="02020603050405020304" pitchFamily="18" charset="0"/>
              </a:rPr>
              <a:t>, "Automatic MSEB Meter Reading," *International Research Journal of Engineering and Technology (IRJET)*, vol. 06, no. 05, pp. 371, May 2019.</a:t>
            </a:r>
          </a:p>
          <a:p>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[16] S. Sharma, H. Choudhary, H. </a:t>
            </a:r>
            <a:r>
              <a:rPr lang="en-IN" sz="1500" dirty="0" err="1">
                <a:latin typeface="Times New Roman" panose="02020603050405020304" pitchFamily="18" charset="0"/>
                <a:cs typeface="Times New Roman" panose="02020603050405020304" pitchFamily="18" charset="0"/>
              </a:rPr>
              <a:t>Badetiya</a:t>
            </a:r>
            <a:r>
              <a:rPr lang="en-IN" sz="1500" dirty="0">
                <a:latin typeface="Times New Roman" panose="02020603050405020304" pitchFamily="18" charset="0"/>
                <a:cs typeface="Times New Roman" panose="02020603050405020304" pitchFamily="18" charset="0"/>
              </a:rPr>
              <a:t>, L. Kumar, H. K. </a:t>
            </a:r>
            <a:r>
              <a:rPr lang="en-IN" sz="1500" dirty="0" err="1">
                <a:latin typeface="Times New Roman" panose="02020603050405020304" pitchFamily="18" charset="0"/>
                <a:cs typeface="Times New Roman" panose="02020603050405020304" pitchFamily="18" charset="0"/>
              </a:rPr>
              <a:t>Aloria</a:t>
            </a:r>
            <a:r>
              <a:rPr lang="en-IN" sz="1500" dirty="0">
                <a:latin typeface="Times New Roman" panose="02020603050405020304" pitchFamily="18" charset="0"/>
                <a:cs typeface="Times New Roman" panose="02020603050405020304" pitchFamily="18" charset="0"/>
              </a:rPr>
              <a:t>, and M. </a:t>
            </a:r>
            <a:r>
              <a:rPr lang="en-IN" sz="1500" dirty="0" err="1">
                <a:latin typeface="Times New Roman" panose="02020603050405020304" pitchFamily="18" charset="0"/>
                <a:cs typeface="Times New Roman" panose="02020603050405020304" pitchFamily="18" charset="0"/>
              </a:rPr>
              <a:t>Jangid</a:t>
            </a:r>
            <a:r>
              <a:rPr lang="en-IN" sz="1500" dirty="0">
                <a:latin typeface="Times New Roman" panose="02020603050405020304" pitchFamily="18" charset="0"/>
                <a:cs typeface="Times New Roman" panose="02020603050405020304" pitchFamily="18" charset="0"/>
              </a:rPr>
              <a:t>, "Smart Prepaid Energy Meter," *International Journal of Engineering Research &amp; Technology (IJERT)*, vol. 12, no. 04, April 2023.</a:t>
            </a:r>
          </a:p>
          <a:p>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[17] M. Mali, V. </a:t>
            </a:r>
            <a:r>
              <a:rPr lang="en-IN" sz="1500" dirty="0" err="1">
                <a:latin typeface="Times New Roman" panose="02020603050405020304" pitchFamily="18" charset="0"/>
                <a:cs typeface="Times New Roman" panose="02020603050405020304" pitchFamily="18" charset="0"/>
              </a:rPr>
              <a:t>Jeswani</a:t>
            </a:r>
            <a:r>
              <a:rPr lang="en-IN" sz="1500" dirty="0">
                <a:latin typeface="Times New Roman" panose="02020603050405020304" pitchFamily="18" charset="0"/>
                <a:cs typeface="Times New Roman" panose="02020603050405020304" pitchFamily="18" charset="0"/>
              </a:rPr>
              <a:t>, V. </a:t>
            </a:r>
            <a:r>
              <a:rPr lang="en-IN" sz="1500" dirty="0" err="1">
                <a:latin typeface="Times New Roman" panose="02020603050405020304" pitchFamily="18" charset="0"/>
                <a:cs typeface="Times New Roman" panose="02020603050405020304" pitchFamily="18" charset="0"/>
              </a:rPr>
              <a:t>Charya</a:t>
            </a:r>
            <a:r>
              <a:rPr lang="en-IN" sz="1500" dirty="0">
                <a:latin typeface="Times New Roman" panose="02020603050405020304" pitchFamily="18" charset="0"/>
                <a:cs typeface="Times New Roman" panose="02020603050405020304" pitchFamily="18" charset="0"/>
              </a:rPr>
              <a:t>, D. </a:t>
            </a:r>
            <a:r>
              <a:rPr lang="en-IN" sz="1500" dirty="0" err="1">
                <a:latin typeface="Times New Roman" panose="02020603050405020304" pitchFamily="18" charset="0"/>
                <a:cs typeface="Times New Roman" panose="02020603050405020304" pitchFamily="18" charset="0"/>
              </a:rPr>
              <a:t>Kamble</a:t>
            </a:r>
            <a:r>
              <a:rPr lang="en-IN" sz="1500" dirty="0">
                <a:latin typeface="Times New Roman" panose="02020603050405020304" pitchFamily="18" charset="0"/>
                <a:cs typeface="Times New Roman" panose="02020603050405020304" pitchFamily="18" charset="0"/>
              </a:rPr>
              <a:t>, and S. </a:t>
            </a:r>
            <a:r>
              <a:rPr lang="en-IN" sz="1500" dirty="0" err="1">
                <a:latin typeface="Times New Roman" panose="02020603050405020304" pitchFamily="18" charset="0"/>
                <a:cs typeface="Times New Roman" panose="02020603050405020304" pitchFamily="18" charset="0"/>
              </a:rPr>
              <a:t>Padasalkar</a:t>
            </a:r>
            <a:r>
              <a:rPr lang="en-IN" sz="1500" dirty="0">
                <a:latin typeface="Times New Roman" panose="02020603050405020304" pitchFamily="18" charset="0"/>
                <a:cs typeface="Times New Roman" panose="02020603050405020304" pitchFamily="18" charset="0"/>
              </a:rPr>
              <a:t>, "The Smart Energy Meter," *International Journal for Research in Applied Science &amp; Engineering Technology (IJRASET)*, vol. 9, no. II, Feb. 2021.</a:t>
            </a:r>
          </a:p>
          <a:p>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02635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3699</TotalTime>
  <Words>1932</Words>
  <Application>Microsoft Office PowerPoint</Application>
  <PresentationFormat>On-screen Show (4:3)</PresentationFormat>
  <Paragraphs>157</Paragraphs>
  <Slides>14</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Times New Roman</vt:lpstr>
      <vt:lpstr>Roboto</vt:lpstr>
      <vt:lpstr>Libre Baskerville</vt:lpstr>
      <vt:lpstr>Calibri</vt:lpstr>
      <vt:lpstr>Office Theme</vt:lpstr>
      <vt:lpstr>Pune Vidyarthi Griha’s College of Engineering &amp; Technology &amp;G. K. Pate (Wani) Institute of Management, Pune                    DEPARTMENT OF ELECTRONICS AND TELECOMMUNICATION ENGINEERING Academic Year: 2024-2025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Pune Vidyarthi Griha’s College of Engineering &amp; Technology &amp;G. K. Pate (Wani) Institute of Management, Pune                    DEPARTMENT OF ELECTRONICS AND TELECOMMUNICATION ENGINEERING Academic Year: 2024-2025  </dc:title>
  <cp:lastModifiedBy>Aniket Gund</cp:lastModifiedBy>
  <cp:revision>65</cp:revision>
  <dcterms:modified xsi:type="dcterms:W3CDTF">2024-10-09T22:36:58Z</dcterms:modified>
</cp:coreProperties>
</file>